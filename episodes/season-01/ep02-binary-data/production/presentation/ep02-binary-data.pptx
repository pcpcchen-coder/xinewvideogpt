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ad208277a842ff" /><Relationship Type="http://schemas.openxmlformats.org/officeDocument/2006/relationships/extended-properties" Target="/docProps/app.xml" Id="R2e060a83a5384316" /><Relationship Type="http://schemas.openxmlformats.org/officeDocument/2006/relationships/officeDocument" Target="/ppt/presentation.xml" Id="Rd577381922b546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96d6db892d4cc1"/>
  </p:sldMasterIdLst>
  <p:notesMasterIdLst>
    <p:notesMasterId xmlns:r="http://schemas.openxmlformats.org/officeDocument/2006/relationships" r:id="R0faeaa5505a4410c"/>
  </p:notesMasterIdLst>
  <p:sldIdLst>
    <p:sldId xmlns:r="http://schemas.openxmlformats.org/officeDocument/2006/relationships" id="256" r:id="Rd9ea80d7a3d149fd"/>
    <p:sldId xmlns:r="http://schemas.openxmlformats.org/officeDocument/2006/relationships" id="257" r:id="Rc3e77c87c143409d"/>
    <p:sldId xmlns:r="http://schemas.openxmlformats.org/officeDocument/2006/relationships" id="258" r:id="R6c7d4e7762ff4353"/>
    <p:sldId xmlns:r="http://schemas.openxmlformats.org/officeDocument/2006/relationships" id="259" r:id="R139f032202694133"/>
    <p:sldId xmlns:r="http://schemas.openxmlformats.org/officeDocument/2006/relationships" id="260" r:id="R9ed85e36b16c4267"/>
    <p:sldId xmlns:r="http://schemas.openxmlformats.org/officeDocument/2006/relationships" id="261" r:id="R88fa00b4bccd4e4a"/>
    <p:sldId xmlns:r="http://schemas.openxmlformats.org/officeDocument/2006/relationships" id="262" r:id="R802222100fd146b8"/>
    <p:sldId xmlns:r="http://schemas.openxmlformats.org/officeDocument/2006/relationships" id="263" r:id="R1804071ed2284fcc"/>
    <p:sldId xmlns:r="http://schemas.openxmlformats.org/officeDocument/2006/relationships" id="264" r:id="R81bf77fb26c6401c"/>
    <p:sldId xmlns:r="http://schemas.openxmlformats.org/officeDocument/2006/relationships" id="265" r:id="Rb9c76f48099b44be"/>
    <p:sldId xmlns:r="http://schemas.openxmlformats.org/officeDocument/2006/relationships" id="266" r:id="R5b17ca13c948410c"/>
    <p:sldId xmlns:r="http://schemas.openxmlformats.org/officeDocument/2006/relationships" id="267" r:id="R87316d2400d845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0b75e394440df" /><Relationship Type="http://schemas.openxmlformats.org/officeDocument/2006/relationships/slideMaster" Target="/ppt/slideMasters/slideMaster1.xml" Id="R1b96d6db892d4cc1" /><Relationship Type="http://schemas.openxmlformats.org/officeDocument/2006/relationships/notesMaster" Target="/ppt/notesMasters/notesMaster1.xml" Id="R0faeaa5505a4410c" /><Relationship Type="http://schemas.openxmlformats.org/officeDocument/2006/relationships/presProps" Target="/ppt/presProps.xml" Id="R977af6d22a58445e" /><Relationship Type="http://schemas.openxmlformats.org/officeDocument/2006/relationships/tableStyles" Target="/ppt/tableStyles.xml" Id="R4b68bcc621e74616" /><Relationship Type="http://schemas.openxmlformats.org/officeDocument/2006/relationships/slide" Target="/ppt/slides/slide1.xml" Id="Rd9ea80d7a3d149fd" /><Relationship Type="http://schemas.openxmlformats.org/officeDocument/2006/relationships/slide" Target="/ppt/slides/slide2.xml" Id="Rc3e77c87c143409d" /><Relationship Type="http://schemas.openxmlformats.org/officeDocument/2006/relationships/slide" Target="/ppt/slides/slide3.xml" Id="R6c7d4e7762ff4353" /><Relationship Type="http://schemas.openxmlformats.org/officeDocument/2006/relationships/slide" Target="/ppt/slides/slide4.xml" Id="R139f032202694133" /><Relationship Type="http://schemas.openxmlformats.org/officeDocument/2006/relationships/slide" Target="/ppt/slides/slide5.xml" Id="R9ed85e36b16c4267" /><Relationship Type="http://schemas.openxmlformats.org/officeDocument/2006/relationships/slide" Target="/ppt/slides/slide6.xml" Id="R88fa00b4bccd4e4a" /><Relationship Type="http://schemas.openxmlformats.org/officeDocument/2006/relationships/slide" Target="/ppt/slides/slide7.xml" Id="R802222100fd146b8" /><Relationship Type="http://schemas.openxmlformats.org/officeDocument/2006/relationships/slide" Target="/ppt/slides/slide8.xml" Id="R1804071ed2284fcc" /><Relationship Type="http://schemas.openxmlformats.org/officeDocument/2006/relationships/slide" Target="/ppt/slides/slide9.xml" Id="R81bf77fb26c6401c" /><Relationship Type="http://schemas.openxmlformats.org/officeDocument/2006/relationships/slide" Target="/ppt/slides/slide10.xml" Id="Rb9c76f48099b44be" /><Relationship Type="http://schemas.openxmlformats.org/officeDocument/2006/relationships/slide" Target="/ppt/slides/slide11.xml" Id="R5b17ca13c948410c" /><Relationship Type="http://schemas.openxmlformats.org/officeDocument/2006/relationships/slide" Target="/ppt/slides/slide12.xml" Id="R87316d2400d845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9310d5c6e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c8efdda6542e4" /><Relationship Type="http://schemas.openxmlformats.org/officeDocument/2006/relationships/notesMaster" Target="/ppt/notesMasters/notesMaster1.xml" Id="R708ce85c2d0b45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3181eac61441d" /><Relationship Type="http://schemas.openxmlformats.org/officeDocument/2006/relationships/notesMaster" Target="/ppt/notesMasters/notesMaster1.xml" Id="Ra81721b436c241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012399995c4a81" /><Relationship Type="http://schemas.openxmlformats.org/officeDocument/2006/relationships/notesMaster" Target="/ppt/notesMasters/notesMaster1.xml" Id="Rd65a74c1e63447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77a970c0b4225" /><Relationship Type="http://schemas.openxmlformats.org/officeDocument/2006/relationships/notesMaster" Target="/ppt/notesMasters/notesMaster1.xml" Id="R50341f22431b4d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1943cde1bd4fe5" /><Relationship Type="http://schemas.openxmlformats.org/officeDocument/2006/relationships/notesMaster" Target="/ppt/notesMasters/notesMaster1.xml" Id="Rba2beea7016e4b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ce0e94239c45de" /><Relationship Type="http://schemas.openxmlformats.org/officeDocument/2006/relationships/notesMaster" Target="/ppt/notesMasters/notesMaster1.xml" Id="Ra80709b455b041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7bdebce894153" /><Relationship Type="http://schemas.openxmlformats.org/officeDocument/2006/relationships/notesMaster" Target="/ppt/notesMasters/notesMaster1.xml" Id="Rf6e9e28607f3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af0080f77f4723" /><Relationship Type="http://schemas.openxmlformats.org/officeDocument/2006/relationships/notesMaster" Target="/ppt/notesMasters/notesMaster1.xml" Id="R72bb3ec2fea647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515a6a693547ec" /><Relationship Type="http://schemas.openxmlformats.org/officeDocument/2006/relationships/notesMaster" Target="/ppt/notesMasters/notesMaster1.xml" Id="R6ec9ada55c2049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9c589646164614" /><Relationship Type="http://schemas.openxmlformats.org/officeDocument/2006/relationships/notesMaster" Target="/ppt/notesMasters/notesMaster1.xml" Id="Re9b42f6e2d4343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4a55552906496b" /><Relationship Type="http://schemas.openxmlformats.org/officeDocument/2006/relationships/notesMaster" Target="/ppt/notesMasters/notesMaster1.xml" Id="R0c2778c5d3c241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8c1ba76b8948d2" /><Relationship Type="http://schemas.openxmlformats.org/officeDocument/2006/relationships/notesMaster" Target="/ppt/notesMasters/notesMaster1.xml" Id="Ra89cd7a970bc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你現在看到的文字、照片和音樂，在電腦裡其實都不是原來的樣子。</a:t>
            </a:r>
          </a:p>
          <a:p xmlns:a="http://schemas.openxmlformats.org/drawingml/2006/main">
            <a:r>
              <a:t>它們最後會被翻譯成一長串零和一，再交給晶片裡無數的小開關處理。</a:t>
            </a:r>
          </a:p>
          <a:p xmlns:a="http://schemas.openxmlformats.org/drawingml/2006/main">
            <a:r>
              <a:t>我是陳犀牛，今天帶你追查這套只有兩個符號，卻能裝下整個數位世界的密碼。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>- Opening theme: https://github.com/pcpcchen-coder/XiNewIPs/blob/main/assets/%E9%99%B3%E7%8A%80%E7%89%9B%E9%96%8B%E5%A0%B4%E4%B8%BB%E9%A1%8C%E6%9B%B2_%E7%8A%80%E7%89%9B%E8%A7%92%E4%BA%AE%E8%B5%B7%E4%BE%86_v0.mp4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想像房間的燈，開著很亮，關掉很暗，這兩種狀態最容易分清楚。</a:t>
            </a:r>
          </a:p>
          <a:p xmlns:a="http://schemas.openxmlformats.org/drawingml/2006/main">
            <a:r>
              <a:t>如果硬要分成很多個模糊亮度，電壓一有雜訊，機器就可能判斷錯誤。</a:t>
            </a:r>
          </a:p>
          <a:p xmlns:a="http://schemas.openxmlformats.org/drawingml/2006/main">
            <a:r>
              <a:t>所以電腦選擇兩個距離很遠的狀態，可靠、快速，又容易大量複製。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晶片裡的電晶體，就像速度極快的微型開關，能控制電流通過或停止。</a:t>
            </a:r>
          </a:p>
          <a:p xmlns:a="http://schemas.openxmlformats.org/drawingml/2006/main">
            <a:r>
              <a:t>工程師把關閉的狀態記成零，把開啟的狀態記成一，這就是二進位的起點。</a:t>
            </a:r>
          </a:p>
          <a:p xmlns:a="http://schemas.openxmlformats.org/drawingml/2006/main">
            <a:r>
              <a:t>一個開關只能帶一小格資訊，但幾十億個開關合作，就能完成複雜的運算。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一個零或一叫做一個位元，它是數位資料最小的基本單位。</a:t>
            </a:r>
          </a:p>
          <a:p xmlns:a="http://schemas.openxmlformats.org/drawingml/2006/main">
            <a:r>
              <a:t>八個位元排成一組，通常叫做一個位元組，就像八個小抽屜綁在一起。</a:t>
            </a:r>
          </a:p>
          <a:p xmlns:a="http://schemas.openxmlformats.org/drawingml/2006/main">
            <a:r>
              <a:t>一個位元組共有兩百五十六種排列，足以代表許多常用符號和數值。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二進位的每個位置都有價值，從右到左依序是一、二、四、八、十六。</a:t>
            </a:r>
          </a:p>
          <a:p xmlns:a="http://schemas.openxmlformats.org/drawingml/2006/main">
            <a:r>
              <a:t>把某張卡翻開就是選一，蓋起來就是選零；五張卡共有三十二種組合。</a:t>
            </a:r>
          </a:p>
          <a:p xmlns:a="http://schemas.openxmlformats.org/drawingml/2006/main">
            <a:r>
              <a:t>因此一隻手的五個開關，可以從零一路數到三十一，比普通手指數法更有力。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來把十三拆開，它等於八加四加一，所以這三張卡要翻開。</a:t>
            </a:r>
          </a:p>
          <a:p xmlns:a="http://schemas.openxmlformats.org/drawingml/2006/main">
            <a:r>
              <a:t>從十六、八、四、二、一依序寫下狀態，就得到零、一、一、零、一。</a:t>
            </a:r>
          </a:p>
          <a:p xmlns:a="http://schemas.openxmlformats.org/drawingml/2006/main">
            <a:r>
              <a:t>換句話說，二進位不是奇怪暗號，只是用二的倍數重新拼出同一個數字。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八個位元能表示從零到二百五十五，總共兩百五十六種可能。</a:t>
            </a:r>
          </a:p>
          <a:p xmlns:a="http://schemas.openxmlformats.org/drawingml/2006/main">
            <a:r>
              <a:t>資料越複雜，就串起更多位元組，再用更大的單位表示檔案大小。</a:t>
            </a:r>
          </a:p>
          <a:p xmlns:a="http://schemas.openxmlformats.org/drawingml/2006/main">
            <a:r>
              <a:t>你手機上看到的 KB、MB、GB 和 TB，都是這些小開關一層一層累積起來。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文字進入電腦時，會先查一張大家共用的編碼表，把每個字對應到一個號碼。</a:t>
            </a:r>
          </a:p>
          <a:p xmlns:a="http://schemas.openxmlformats.org/drawingml/2006/main">
            <a:r>
              <a:t>英文字母大寫 A 的號碼是六十五，再寫成八位元，就是零一零零零零零一。</a:t>
            </a:r>
          </a:p>
          <a:p xmlns:a="http://schemas.openxmlformats.org/drawingml/2006/main">
            <a:r>
              <a:t>中文和世界各地的文字，則靠統一碼取得自己的編號，才能跨裝置正確交換。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數位圖片是一大片像素拼成的馬賽克，每個像素記錄自己的顏色。</a:t>
            </a:r>
          </a:p>
          <a:p xmlns:a="http://schemas.openxmlformats.org/drawingml/2006/main">
            <a:r>
              <a:t>黑白圖片可以用零代表黑、一代表白；彩色圖片會用更多位元記錄紅綠藍的強弱。</a:t>
            </a:r>
          </a:p>
          <a:p xmlns:a="http://schemas.openxmlformats.org/drawingml/2006/main">
            <a:r>
              <a:t>像素越多、顏色越細，資料通常也越大，所以高畫質照片會佔更多空間。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聲音原本是連續起伏的空氣震動，電腦會固定間隔量一次波形的高度。</a:t>
            </a:r>
          </a:p>
          <a:p xmlns:a="http://schemas.openxmlformats.org/drawingml/2006/main">
            <a:r>
              <a:t>每次測量都得到一個數字，再把這些數字依順序轉成零和一保存。</a:t>
            </a:r>
          </a:p>
          <a:p xmlns:a="http://schemas.openxmlformats.org/drawingml/2006/main">
            <a:r>
              <a:t>測量越密、每次記得越精細，聲音通常越接近原貌，檔案也會跟著變大。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現在把線索串起來：數字、文字、圖片和聲音，先被轉成規則清楚的數值。</a:t>
            </a:r>
          </a:p>
          <a:p xmlns:a="http://schemas.openxmlformats.org/drawingml/2006/main">
            <a:r>
              <a:t>這些數值再拆成位元，由晶片裡的開關讀取、比較、移動和計算。</a:t>
            </a:r>
          </a:p>
          <a:p xmlns:a="http://schemas.openxmlformats.org/drawingml/2006/main">
            <a:r>
              <a:t>零和一不等於內容很簡單，而是讓所有內容共享一套可靠的底層語言。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最後一題：如果五張卡的價值是十六、八、四、二、一，十三要翻開哪些卡？</a:t>
            </a:r>
          </a:p>
          <a:p xmlns:a="http://schemas.openxmlformats.org/drawingml/2006/main">
            <a:r>
              <a:t>答案是八、四和一，寫成五位元就是零一一零一，你成功把十進位翻譯成二進位了。</a:t>
            </a:r>
          </a:p>
          <a:p xmlns:a="http://schemas.openxmlformats.org/drawingml/2006/main">
            <a:r>
              <a:t>下一集，我們要認識管理所有硬體與程式的大管家：作業系統。我是陳犀牛，我們到時候見。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https://github.com/pcpcchen-coder/video-production-skill-kimi</a:t>
            </a:r>
          </a:p>
          <a:p xmlns:a="http://schemas.openxmlformats.org/drawingml/2006/main">
            <a:r>
              <a:t>- https://github.com/pcpcchen-coder/XiNewIPs</a:t>
            </a:r>
          </a:p>
          <a:p xmlns:a="http://schemas.openxmlformats.org/drawingml/2006/main">
            <a:r>
              <a:t>- https://github.com/pcpcchen-coder/XiNewVideoGPT</a:t>
            </a:r>
          </a:p>
          <a:p xmlns:a="http://schemas.openxmlformats.org/drawingml/2006/main">
            <a:r>
              <a:t>- https://classic.csunplugged.org/activities/binary-numbers/</a:t>
            </a:r>
          </a:p>
          <a:p xmlns:a="http://schemas.openxmlformats.org/drawingml/2006/main">
            <a:r>
              <a:t>- https://www.unicode.org/versions/Unicode17.0.0/core-spec/chapter-2/</a:t>
            </a:r>
          </a:p>
          <a:p xmlns:a="http://schemas.openxmlformats.org/drawingml/2006/main">
            <a:r>
              <a:t>- https://www.unicode.org/standard/principles.html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166ad283143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3ae0577e347cc" /><Relationship Type="http://schemas.openxmlformats.org/officeDocument/2006/relationships/slideLayout" Target="/ppt/slideLayouts/slideLayout1.xml" Id="R32e495f8446246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495f8446246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d3707ca3e464e" /><Relationship Type="http://schemas.openxmlformats.org/officeDocument/2006/relationships/image" Target="/ppt/media/image.png" Id="R6c0d41c098d24569" /><Relationship Type="http://schemas.openxmlformats.org/officeDocument/2006/relationships/image" Target="/ppt/media/image2.png" Id="Rdf2758b4484e4a4e" /><Relationship Type="http://schemas.openxmlformats.org/officeDocument/2006/relationships/notesSlide" Target="/ppt/notesSlides/notesSlide1.xml" Id="Rc26ccca4ae06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329f1cd2c40a6" /><Relationship Type="http://schemas.openxmlformats.org/officeDocument/2006/relationships/image" Target="/ppt/media/image3.png" Id="Rdb511b69ddcb4831" /><Relationship Type="http://schemas.openxmlformats.org/officeDocument/2006/relationships/image" Target="/ppt/media/image4.png" Id="R6a69e060c3f3412e" /><Relationship Type="http://schemas.openxmlformats.org/officeDocument/2006/relationships/notesSlide" Target="/ppt/notesSlides/notesSlide2.xml" Id="Raf40507854e7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c6b75b55f43d4" /><Relationship Type="http://schemas.openxmlformats.org/officeDocument/2006/relationships/image" Target="/ppt/media/image5.png" Id="R9d1438a2d7f94647" /><Relationship Type="http://schemas.openxmlformats.org/officeDocument/2006/relationships/image" Target="/ppt/media/image6.png" Id="R753888b58ee04e7f" /><Relationship Type="http://schemas.openxmlformats.org/officeDocument/2006/relationships/notesSlide" Target="/ppt/notesSlides/notesSlide3.xml" Id="Raa84098cb6c24e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a976977f8418c" /><Relationship Type="http://schemas.openxmlformats.org/officeDocument/2006/relationships/image" Target="/ppt/media/image7.png" Id="Rf62810743c1b4345" /><Relationship Type="http://schemas.openxmlformats.org/officeDocument/2006/relationships/notesSlide" Target="/ppt/notesSlides/notesSlide4.xml" Id="Rf707aa0b8629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ca5f1156415a" /><Relationship Type="http://schemas.openxmlformats.org/officeDocument/2006/relationships/image" Target="/ppt/media/image8.png" Id="R04651a121cae4f47" /><Relationship Type="http://schemas.openxmlformats.org/officeDocument/2006/relationships/image" Target="/ppt/media/image9.png" Id="Rca78d1c2521a44b3" /><Relationship Type="http://schemas.openxmlformats.org/officeDocument/2006/relationships/notesSlide" Target="/ppt/notesSlides/notesSlide5.xml" Id="Ra89003ff53db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6bdefaee4b6a" /><Relationship Type="http://schemas.openxmlformats.org/officeDocument/2006/relationships/image" Target="/ppt/media/image10.png" Id="Rd1101cc777f34bfd" /><Relationship Type="http://schemas.openxmlformats.org/officeDocument/2006/relationships/notesSlide" Target="/ppt/notesSlides/notesSlide6.xml" Id="Rd2af06158f804f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014dbdb341d0" /><Relationship Type="http://schemas.openxmlformats.org/officeDocument/2006/relationships/image" Target="/ppt/media/image11.png" Id="Rd70451093eb84c4a" /><Relationship Type="http://schemas.openxmlformats.org/officeDocument/2006/relationships/notesSlide" Target="/ppt/notesSlides/notesSlide7.xml" Id="R93483de236cd46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ddfb192b841b3" /><Relationship Type="http://schemas.openxmlformats.org/officeDocument/2006/relationships/image" Target="/ppt/media/image12.png" Id="R89b1ba1248284e3b" /><Relationship Type="http://schemas.openxmlformats.org/officeDocument/2006/relationships/image" Target="/ppt/media/image13.png" Id="Rae31ea2822c1433a" /><Relationship Type="http://schemas.openxmlformats.org/officeDocument/2006/relationships/notesSlide" Target="/ppt/notesSlides/notesSlide8.xml" Id="Rf2c7eb7bc0d949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94ad722714557" /><Relationship Type="http://schemas.openxmlformats.org/officeDocument/2006/relationships/image" Target="/ppt/media/image14.png" Id="Rc539117091a94b03" /><Relationship Type="http://schemas.openxmlformats.org/officeDocument/2006/relationships/image" Target="/ppt/media/image15.png" Id="Rbce9a16bbe304730" /><Relationship Type="http://schemas.openxmlformats.org/officeDocument/2006/relationships/notesSlide" Target="/ppt/notesSlides/notesSlide9.xml" Id="R2ac07dd2c8f9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29237f9c3479a" /><Relationship Type="http://schemas.openxmlformats.org/officeDocument/2006/relationships/image" Target="/ppt/media/image16.png" Id="R33673e65cb4e4e8b" /><Relationship Type="http://schemas.openxmlformats.org/officeDocument/2006/relationships/image" Target="/ppt/media/image17.png" Id="R737990d8a7ac4ae9" /><Relationship Type="http://schemas.openxmlformats.org/officeDocument/2006/relationships/notesSlide" Target="/ppt/notesSlides/notesSlide10.xml" Id="R1d744823f01443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55a5628d84f7c" /><Relationship Type="http://schemas.openxmlformats.org/officeDocument/2006/relationships/image" Target="/ppt/media/image11.png" Id="R0d797b527ae643d1" /><Relationship Type="http://schemas.openxmlformats.org/officeDocument/2006/relationships/notesSlide" Target="/ppt/notesSlides/notesSlide11.xml" Id="R66c723116e3e42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ad1708a5343a6" /><Relationship Type="http://schemas.openxmlformats.org/officeDocument/2006/relationships/image" Target="/ppt/media/image18.png" Id="R379153f4ddb0425a" /><Relationship Type="http://schemas.openxmlformats.org/officeDocument/2006/relationships/notesSlide" Target="/ppt/notesSlides/notesSlide12.xml" Id="R807390e4afa747a9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249B8-EE74-45F7-A6A3-BD753AB1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1BEC2-1576-4D8E-B92F-F2AEAED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0A0A2-D261-4C4C-96A1-DF37A75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A4E55-DD5B-48B9-80BC-C1B410D6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52410-6125-4CEE-8BED-D77A8E06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CHEN XiNew · TECH 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E7520-72A8-4FBE-9F2D-AB5C8A17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01/12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7FC2C-CD0D-4FE0-98A5-64E9D50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7F700-BC97-4E0D-930B-399EFD8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d41c098d24569"/>
          <a:srcRect xmlns:a="http://schemas.openxmlformats.org/drawingml/2006/main" l="0" t="3636" r="0" b="3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76200"/>
            <a:ext cx="12192000" cy="6362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5205B-CB5E-4DA3-B796-03D8CE6B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6362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1222">
                  <a:alpha val="98000"/>
                </a:srgbClr>
              </a:gs>
              <a:gs pos="33000">
                <a:srgbClr val="041222">
                  <a:alpha val="82000"/>
                </a:srgbClr>
              </a:gs>
              <a:gs pos="72000">
                <a:srgbClr val="041222">
                  <a:alpha val="12000"/>
                </a:srgbClr>
              </a:gs>
              <a:gs pos="100000">
                <a:srgbClr val="041222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25EEE-8967-4D6A-8328-05CB3DC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7367D-C3D7-44B2-B8CD-A3D3DE8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C12F"/>
                </a:solidFill>
              </a:defRPr>
            </a:pPr>
            <a:r>
              <a:rPr sz="1350" b="1">
                <a:solidFill>
                  <a:srgbClr val="FFC12F"/>
                </a:solidFill>
              </a:rPr>
              <a:t>CHEN XiNew · TECH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7D162-4109-4208-B164-F14C237D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0" b="1">
                <a:solidFill>
                  <a:srgbClr val="F7F7F8"/>
                </a:solidFill>
              </a:defRPr>
            </a:pPr>
            <a:r>
              <a:rPr sz="5250" b="1">
                <a:solidFill>
                  <a:srgbClr val="F7F7F8"/>
                </a:solidFill>
              </a:rPr>
              <a:t>為什麼電腦</a:t>
            </a:r>
          </a:p>
          <a:p xmlns:a="http://schemas.openxmlformats.org/drawingml/2006/main">
            <a:pPr>
              <a:buNone/>
              <a:defRPr sz="5250" b="1">
                <a:solidFill>
                  <a:srgbClr val="F7F7F8"/>
                </a:solidFill>
              </a:defRPr>
            </a:pPr>
            <a:r>
              <a:rPr sz="5250" b="1">
                <a:solidFill>
                  <a:srgbClr val="F7F7F8"/>
                </a:solidFill>
              </a:rPr>
              <a:t>只懂 0 和 1？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1BD87-4CE1-4762-90F7-9AE7210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F7F7F8"/>
                </a:solidFill>
              </a:defRPr>
            </a:pPr>
            <a:r>
              <a:rPr sz="2100">
                <a:solidFill>
                  <a:srgbClr val="F7F7F8"/>
                </a:solidFill>
              </a:rPr>
              <a:t>從微型開關，走進數位世界</a:t>
            </a:r>
          </a:p>
        </p:txBody>
      </p:sp>
      <p:sp>
        <p:nvSpPr>
          <p:cNvPr id="15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7605DB15-81F4-465D-A275-F1F8917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19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42088B84-684F-4274-8784-F3E1BAB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481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今天追查：所有內容如何變成兩種狀態。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758b4484e4a4e"/>
          <a:stretch xmlns:a="http://schemas.openxmlformats.org/drawingml/2006/main"/>
        </p:blipFill>
        <p:spPr>
          <a:xfrm xmlns:a="http://schemas.openxmlformats.org/drawingml/2006/main" flipH="1">
            <a:off x="3905250" y="3979223"/>
            <a:ext cx="2952750" cy="16618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0821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CBBF8-18B6-4ED2-8EAA-CE25E8F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51567-1B21-4D67-9507-3C8FC579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61527-A9AF-4770-9883-8F7E2C9C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3B236-E9BD-4C88-8215-1DB4855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F66BE-FF6A-4233-A5C9-CB059FE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可靠 RELIABLE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86E0-8CA4-4FE3-80C0-B75CEA77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02/12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40667-078B-4D16-B385-207B028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8134F-1888-42D3-A60B-E873054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31AC63-DEB7-4345-A9F3-6098517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可靠的關鍵，是只分成兩種狀態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11b69ddcb4831"/>
          <a:srcRect xmlns:a="http://schemas.openxmlformats.org/drawingml/2006/main" l="5445" t="0" r="5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2076450"/>
            <a:ext cx="5429250" cy="34290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25AA4-BCE6-48E5-A2D9-BFB2265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33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82C4">
              <a:alpha val="22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E84-B9FA-4F93-B560-65E6246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OFF 關閉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E98D6-AE16-4C79-920E-C1A7E349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46C8FF"/>
                </a:solidFill>
              </a:defRPr>
            </a:pPr>
            <a:r>
              <a:rPr sz="2250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ED28C-C292-4D12-921E-7DE69F91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133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C12F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CB231-6D8D-444E-9729-2576C00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718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雜訊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B188D-9ED5-4533-B00E-4DE2CC4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0037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>
                <a:solidFill>
                  <a:srgbClr val="46C8FF"/>
                </a:solidFill>
              </a:defRPr>
            </a:pPr>
            <a:r>
              <a:rPr sz="2250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7458D-6B0D-4106-ACCE-D9B1C2F4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33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82C4">
              <a:alpha val="22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9F6BD-ADDA-4DF1-ADBF-A9F2293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ON 開啟</a:t>
            </a:r>
          </a:p>
        </p:txBody>
      </p:sp>
      <p:sp>
        <p:nvSpPr>
          <p:cNvPr id="19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EA115500-FE10-40C6-8773-0E200DF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97852FA7-6AF9-4155-9041-2316DAE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兩種狀態距離夠遠，雜訊來了也較不容易判錯。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9e060c3f3412e"/>
          <a:stretch xmlns:a="http://schemas.openxmlformats.org/drawingml/2006/main"/>
        </p:blipFill>
        <p:spPr>
          <a:xfrm xmlns:a="http://schemas.openxmlformats.org/drawingml/2006/main" flipH="0">
            <a:off x="4905375" y="4257780"/>
            <a:ext cx="1285875" cy="7236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0996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D130C-F94F-4008-8AC9-C8DC788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52649-F8E6-4A43-B452-B678EAD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14C92-5A07-4A76-830C-BE49B239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ECEEC-D3E7-4194-BB83-2E474AC6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9B958-9315-4518-8986-3BBD91B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硬體 HARDWARE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1FB5C-26D4-4469-B4C8-73935E60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03/12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915DF-2A64-4D4B-9D07-D8CD2E60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E9CCE-B353-405C-9C15-170909FE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CCDA2-289B-4ECF-B3C1-F1A159D9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一個電晶體，就是一個超小開關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438a2d7f94647"/>
          <a:srcRect xmlns:a="http://schemas.openxmlformats.org/drawingml/2006/main" l="5445" t="0" r="5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2076450"/>
            <a:ext cx="5429250" cy="34290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B91EE-7555-4D6A-804F-BA94C07D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1BCEA-4403-4DAB-B579-05BD8F2D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</a:defRPr>
            </a:pPr>
            <a:r>
              <a:rPr sz="1950" b="0">
                <a:solidFill>
                  <a:srgbClr val="F7F7F8"/>
                </a:solidFill>
              </a:rPr>
              <a:t>關閉狀態＝0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6E081-A9DF-4627-95AE-62520DD7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C8C52-53B7-4290-B0C8-24C221D5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</a:defRPr>
            </a:pPr>
            <a:r>
              <a:rPr sz="1950" b="0">
                <a:solidFill>
                  <a:srgbClr val="F7F7F8"/>
                </a:solidFill>
              </a:rPr>
              <a:t>開啟狀態＝1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F588D-4B6A-4320-B0DF-DB37EAE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8D281-D43E-4B60-9AD5-947A391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大量開關合作</a:t>
            </a:r>
          </a:p>
        </p:txBody>
      </p:sp>
      <p:sp>
        <p:nvSpPr>
          <p:cNvPr id="17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10FBC200-3FD1-488D-8671-54CB274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198A2009-66E0-46B4-9E5C-A81E441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一個開關很簡單；幾十億個開關能完成複雜運算。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888b58ee04e7f"/>
          <a:stretch xmlns:a="http://schemas.openxmlformats.org/drawingml/2006/main"/>
        </p:blipFill>
        <p:spPr>
          <a:xfrm xmlns:a="http://schemas.openxmlformats.org/drawingml/2006/main" flipH="1">
            <a:off x="4905375" y="4257780"/>
            <a:ext cx="1285875" cy="7236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97892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131FE-C3D6-47E5-934C-D64F8FB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7CCBD-6520-4C64-A5CF-1ECF8EA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AD1D9-3F01-4DCD-AD08-5F217FB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6151E-5BA9-49A9-994B-575A6AFD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1CD00-FDD3-414D-9263-2AF6FC6D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先學資料單位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271B3-360A-44FC-8BF1-0B63C8D6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04/12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429A2-37BC-4FB9-91CB-A8824B67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6CF1-9181-437B-8E1E-47C82FA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1C4607-2F50-4DA7-8957-DC01AACB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bit 與 byte：一格狀態，八格一組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2B88-3889-4184-B032-9F13226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B28">
              <a:alpha val="88000"/>
            </a:srgbClr>
          </a:solidFill>
          <a:ln xmlns:a="http://schemas.openxmlformats.org/drawingml/2006/main" w="19050">
            <a:solidFill>
              <a:srgbClr val="46C8FF">
                <a:alpha val="7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D920-B1F1-4350-8FDD-6045C3B8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6C8FF"/>
                </a:solidFill>
              </a:defRPr>
            </a:pPr>
            <a:r>
              <a:rPr sz="2100" b="1">
                <a:solidFill>
                  <a:srgbClr val="46C8FF"/>
                </a:solidFill>
              </a:rPr>
              <a:t>bit 位元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24B62-C0CB-4E0D-9484-C8543D3C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只能是 0 或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6A76A-7DFD-4BAE-AC0E-9B8060C6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最小資料單位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66641-CFCB-47A5-82F4-2DCA133B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像一格小抽屜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7F9C1-1331-4DCF-94FB-7A109A3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B28">
              <a:alpha val="88000"/>
            </a:srgbClr>
          </a:solidFill>
          <a:ln xmlns:a="http://schemas.openxmlformats.org/drawingml/2006/main" w="19050">
            <a:solidFill>
              <a:srgbClr val="FFC12F">
                <a:alpha val="7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9F15B-DEDB-431D-8FE5-7239AACC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C12F"/>
                </a:solidFill>
              </a:defRPr>
            </a:pPr>
            <a:r>
              <a:rPr sz="2100" b="1">
                <a:solidFill>
                  <a:srgbClr val="FFC12F"/>
                </a:solidFill>
              </a:rPr>
              <a:t>byte 位元組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54A10-C911-4F41-9D29-9CB40FB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8 個 bit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EE6B3-1F14-488E-A205-D71A6683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共有 256 種排列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C8859-1D69-44F3-BD49-FAEEDA8C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52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•  八格綁成一組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810743c1b4345"/>
          <a:stretch xmlns:a="http://schemas.openxmlformats.org/drawingml/2006/main"/>
        </p:blipFill>
        <p:spPr>
          <a:xfrm xmlns:a="http://schemas.openxmlformats.org/drawingml/2006/main" flipH="0">
            <a:off x="4857750" y="3922739"/>
            <a:ext cx="2476500" cy="1393772"/>
          </a:xfrm>
          <a:prstGeom xmlns:a="http://schemas.openxmlformats.org/drawingml/2006/main" prst="rect">
            <a:avLst/>
          </a:prstGeom>
        </p:spPr>
      </p:pic>
      <p:sp>
        <p:nvSpPr>
          <p:cNvPr id="21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15809F20-630E-4D95-8A6A-3394D45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72125"/>
            <a:ext cx="6762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640A23B8-FCC5-4D3B-94F9-2AE92313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76900"/>
            <a:ext cx="638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位元裝一個狀態；位元組把八個位元綁成一組。</a:t>
            </a:r>
          </a:p>
        </p:txBody>
      </p:sp>
    </p:spTree>
    <p:extLst>
      <p:ext uri="{BB962C8B-B14F-4D97-AF65-F5344CB8AC3E}">
        <p14:creationId xmlns:p14="http://schemas.microsoft.com/office/powerpoint/2010/main" val="1292581948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2C4EA-9262-4207-BC38-48CA2A3A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213F5-37BD-4B24-977C-FB27B71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78DCB-C568-484B-AA7B-C7EA2D0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EE57-7A54-4FB8-A0B3-119523D8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6672E-5EA9-4F14-9F54-514E236E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把二進位拿在手上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2C600-0C05-4B1E-9B18-0DDD500C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05/12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49271-D371-4EC5-8732-6593C573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DFF7D-0392-447C-BABD-5BB1EE43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51a121cae4f47"/>
          <a:srcRect xmlns:a="http://schemas.openxmlformats.org/drawingml/2006/main" l="0" t="9188" r="0" b="9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838200"/>
            <a:ext cx="12192000" cy="5600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33D62-85EB-4C52-828A-CA901905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56007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41222">
                  <a:alpha val="88000"/>
                </a:srgbClr>
              </a:gs>
              <a:gs pos="48000">
                <a:srgbClr val="041222">
                  <a:alpha val="5000"/>
                </a:srgbClr>
              </a:gs>
              <a:gs pos="100000">
                <a:srgbClr val="041222">
                  <a:alpha val="7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D7890F-5199-4983-91C8-CF0B9C98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五張二進位卡，能數到 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94B71-7CC4-4FFE-8BA7-F356705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F7F7F8"/>
                </a:solidFill>
              </a:defRPr>
            </a:pPr>
            <a:r>
              <a:rPr sz="1650">
                <a:solidFill>
                  <a:srgbClr val="F7F7F8"/>
                </a:solidFill>
              </a:rPr>
              <a:t>翻開＝1，蓋住＝0；位置價值從左到右減半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B5547-CB9E-4D1F-9225-E6BB7DC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1222">
              <a:alpha val="8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D2C15-6B84-4EFF-A3F5-B5896F6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7F8"/>
                </a:solidFill>
              </a:defRPr>
            </a:pPr>
            <a:r>
              <a:rPr sz="1275" b="1">
                <a:solidFill>
                  <a:srgbClr val="F7F7F8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F1024-2694-4C71-8208-E18CFB88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626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1222">
              <a:alpha val="8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24F60-7A33-48A6-A07D-B333B523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7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C12F"/>
                </a:solidFill>
              </a:defRPr>
            </a:pPr>
            <a:r>
              <a:rPr sz="1275" b="1">
                <a:solidFill>
                  <a:srgbClr val="FFC12F"/>
                </a:solidFill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DBA1E-7700-4D7D-8898-44782196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626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1222">
              <a:alpha val="8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73510-D5B2-4FDE-966A-3FE167B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7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7F8"/>
                </a:solidFill>
              </a:defRPr>
            </a:pPr>
            <a:r>
              <a:rPr sz="1275" b="1">
                <a:solidFill>
                  <a:srgbClr val="F7F7F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C77CB-2518-4DB8-92C5-E0CA144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626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1222">
              <a:alpha val="8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1E31D-968D-42BC-A7D9-6E7AA76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7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7F8"/>
                </a:solidFill>
              </a:defRPr>
            </a:pPr>
            <a:r>
              <a:rPr sz="1275" b="1">
                <a:solidFill>
                  <a:srgbClr val="F7F7F8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8FE7E-2F95-4D6F-9F38-A9EEC50F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626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1222">
              <a:alpha val="8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52D72-60E7-49A6-A0DC-2D273FC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7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7F8"/>
                </a:solidFill>
              </a:defRPr>
            </a:pPr>
            <a:r>
              <a:rPr sz="1275" b="1">
                <a:solidFill>
                  <a:srgbClr val="F7F7F8"/>
                </a:solidFill>
              </a:rPr>
              <a:t>1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8d1c2521a44b3"/>
          <a:stretch xmlns:a="http://schemas.openxmlformats.org/drawingml/2006/main"/>
        </p:blipFill>
        <p:spPr>
          <a:xfrm xmlns:a="http://schemas.openxmlformats.org/drawingml/2006/main" flipH="1">
            <a:off x="9477375" y="3181561"/>
            <a:ext cx="2571750" cy="1447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08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E22F5-BBF2-4307-A98C-C7922FE1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19685-2BD2-4797-B7C4-AE9AA7DE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9C074-DE94-46A2-8C53-812365F4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32FB9-A002-40D6-A606-2B026530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3F885-89A3-4AEF-9290-62743126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做一次轉換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5697-CF4D-4B41-A72B-28697F4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06/12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A1D42-4203-4050-8934-06B23D82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29C42-CB12-4D4A-B895-B6C4AE1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4D63D3-C9F5-4576-9A0C-79B466F3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十三，等於八加四加一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20B1E-6163-46CF-8328-AB9D4FA2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52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6C8FF"/>
                </a:solidFill>
              </a:defRPr>
            </a:pPr>
            <a:r>
              <a:rPr sz="3600" b="1">
                <a:solidFill>
                  <a:srgbClr val="46C8FF"/>
                </a:solidFill>
              </a:rPr>
              <a:t>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9A496-CED0-439B-8E23-2169B301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9050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85BCF-5866-44A9-BAB3-3256304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6C8FF"/>
                </a:solidFill>
              </a:defRPr>
            </a:pPr>
            <a:r>
              <a:rPr sz="1200" b="1">
                <a:solidFill>
                  <a:srgbClr val="46C8FF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63237-360E-454E-A5DB-40285E6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0C7EE-8DE4-41CA-A9E9-11CAF96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1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6C8FF"/>
                </a:solidFill>
              </a:defRPr>
            </a:pPr>
            <a:r>
              <a:rPr sz="3600" b="1">
                <a:solidFill>
                  <a:srgbClr val="46C8FF"/>
                </a:solidFill>
              </a:rPr>
              <a:t>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21232-B3C9-4540-9FD1-0633378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623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9050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466C5-E7D2-4CB8-B009-CD93257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6C8FF"/>
                </a:solidFill>
              </a:defRPr>
            </a:pPr>
            <a:r>
              <a:rPr sz="1200" b="1">
                <a:solidFill>
                  <a:srgbClr val="46C8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8AA99-7BBF-4135-9633-49C2E33D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7195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C49E1-CCAC-4D40-AA11-8485AD7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6C8FF"/>
                </a:solidFill>
              </a:defRPr>
            </a:pPr>
            <a:r>
              <a:rPr sz="3600" b="1">
                <a:solidFill>
                  <a:srgbClr val="46C8FF"/>
                </a:solidFill>
              </a:rPr>
              <a:t>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CD224-6B4B-460B-AA8F-991C2BA4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C12F">
              <a:alpha val="17000"/>
            </a:srgbClr>
          </a:solidFill>
          <a:ln xmlns:a="http://schemas.openxmlformats.org/drawingml/2006/main" w="19050">
            <a:solidFill>
              <a:srgbClr val="FFC12F">
                <a:alpha val="7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70B98-8B94-4D67-B6EF-4E3CE25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150CB-8AFC-4923-8628-3BCCA6D2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64B1E-E515-454C-9D37-0AF04F4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6C8FF"/>
                </a:solidFill>
              </a:defRPr>
            </a:pPr>
            <a:r>
              <a:rPr sz="3600" b="1">
                <a:solidFill>
                  <a:srgbClr val="46C8FF"/>
                </a:solidFill>
              </a:rPr>
              <a:t>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FD232-FC37-40D4-B6C9-DADA8028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623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9050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85264-2D0C-47E6-8D7B-E72EB370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6C8FF"/>
                </a:solidFill>
              </a:defRPr>
            </a:pPr>
            <a:r>
              <a:rPr sz="1200" b="1">
                <a:solidFill>
                  <a:srgbClr val="46C8FF"/>
                </a:solidFill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71BCD-7BD6-4EED-A891-61207895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7195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40F3B-91AC-4FF2-97E4-04C124F2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9050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A57B2-0336-433A-9E26-3242B045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6C8FF"/>
                </a:solidFill>
              </a:defRPr>
            </a:pPr>
            <a:r>
              <a:rPr sz="1200" b="1">
                <a:solidFill>
                  <a:srgbClr val="46C8F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B426A-CC59-44BC-9569-E34EA62C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1</a:t>
            </a:r>
          </a:p>
        </p:txBody>
      </p:sp>
      <p:sp>
        <p:nvSpPr>
          <p:cNvPr id="29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47ACA57D-685E-4041-9BF8-AE4757D1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81625"/>
            <a:ext cx="771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30" name="takeaway">
            <a:extLst xmlns:a="http://schemas.openxmlformats.org/drawingml/2006/main">
              <a:ext uri="{FF2B5EF4-FFF2-40B4-BE49-F238E27FC236}">
                <a16:creationId xmlns:a16="http://schemas.microsoft.com/office/drawing/2014/main" id="{6B9B268B-C1C8-4BD1-AF99-16C42610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864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13＝8＋4＋1，所以答案是 01101。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01cc777f34bfd"/>
          <a:stretch xmlns:a="http://schemas.openxmlformats.org/drawingml/2006/main"/>
        </p:blipFill>
        <p:spPr>
          <a:xfrm xmlns:a="http://schemas.openxmlformats.org/drawingml/2006/main" flipH="0">
            <a:off x="9810750" y="4343944"/>
            <a:ext cx="2333625" cy="13133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936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5A4F4-C151-4373-9C8B-2067E690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74618-DD5A-41A2-BBF9-066CFD2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D94A-9588-4945-9774-7D54157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8B4CE-0F12-407E-BD97-6C0632B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40665-A743-44DD-BFBB-E58CC8C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把位元組合起來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13100-5113-4258-9E45-8517F45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07/12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5777D-CD50-4B2C-BFE2-4D6A238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5104E-6063-4C08-88DB-8C82F0A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0A224F-C68C-4810-81E2-C28A7BC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八個位元，裝出 256 種組合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367C0-1D3C-407A-9171-C225DD8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A8B8C9"/>
                </a:solidFill>
              </a:defRPr>
            </a:pPr>
            <a:r>
              <a:rPr sz="1650">
                <a:solidFill>
                  <a:srgbClr val="A8B8C9"/>
                </a:solidFill>
              </a:rPr>
              <a:t>00000000 到 11111111，對應 0 到 255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ED610-B8F8-4747-B793-5B095A99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57A7E-1A86-4FED-BD66-AFBB1E3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byte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ABB4-106B-4FC4-BC0D-2C940C2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315D9-798A-4D00-822F-DEFBA09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68C0E-8421-453E-82A1-534D9364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KB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BBABF-B67E-4D6E-B517-C0FE967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4771E-DDF2-40C0-987C-07FB468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C12F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67F29-2DB1-4822-A959-475D2B23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C12F"/>
                </a:solidFill>
              </a:defRPr>
            </a:pPr>
            <a:r>
              <a:rPr sz="1950" b="1">
                <a:solidFill>
                  <a:srgbClr val="FFC12F"/>
                </a:solidFill>
              </a:rPr>
              <a:t>MB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F7074-F7EF-4A98-AB78-F951DEF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653C1-D66D-4366-A7CA-FA0A805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6A9BD-BE88-49CB-A0F3-D710B43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GB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085C9-0AB1-483F-980C-2EE86EC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D0C2D-8804-4EBB-94CD-2A91AF78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F2A5-0616-450E-8BFD-3682A39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TB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22808-89BC-4A91-8A76-16CD27F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8639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982C4">
              <a:alpha val="10000"/>
            </a:srgbClr>
          </a:solidFill>
          <a:ln xmlns:a="http://schemas.openxmlformats.org/drawingml/2006/main" w="9525">
            <a:solidFill>
              <a:srgbClr val="1982C4">
                <a:alpha val="4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093E7-4FA3-438B-B222-D4F2D19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7F7F8"/>
                </a:solidFill>
              </a:defRPr>
            </a:pPr>
            <a:r>
              <a:rPr sz="1800">
                <a:solidFill>
                  <a:srgbClr val="F7F7F8"/>
                </a:solidFill>
              </a:rPr>
              <a:t>檔案越大，只是需要更多位元組接力。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451093eb84c4a"/>
          <a:stretch xmlns:a="http://schemas.openxmlformats.org/drawingml/2006/main"/>
        </p:blipFill>
        <p:spPr>
          <a:xfrm xmlns:a="http://schemas.openxmlformats.org/drawingml/2006/main" flipH="0">
            <a:off x="9239250" y="3145785"/>
            <a:ext cx="2952750" cy="16618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3453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E924D-39DB-44C1-8E9E-59E37DF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4CB9C-9D21-4CBA-A5E6-710CB23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C0CE9-7E8B-4694-A74C-73293F16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C3909-6C37-4041-BD45-B902CE2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5A45-F77B-4F18-AFA5-CE765AD9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編碼 ENCODE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4AAFB-1DC5-4835-8431-960CA18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08/12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D01D9-E6CF-40A9-BC8C-AD4961EB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DDDF-16B6-4F53-84E8-45F194AC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8E59-E2D4-4F25-AA1C-6AC20C9D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文字先變成編號，再變成位元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1ba1248284e3b"/>
          <a:srcRect xmlns:a="http://schemas.openxmlformats.org/drawingml/2006/main" l="5445" t="0" r="54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2076450"/>
            <a:ext cx="5429250" cy="34290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9BD16-F557-4D00-8184-E7097FE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3E9D9-E6EA-492D-8138-5EB3CCC3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</a:defRPr>
            </a:pPr>
            <a:r>
              <a:rPr sz="1950" b="0">
                <a:solidFill>
                  <a:srgbClr val="F7F7F8"/>
                </a:solidFill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AD2C1-D415-45DE-9E57-F671017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A4222-FB84-4624-ACFA-4AAF9935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F7F7F8"/>
                </a:solidFill>
              </a:defRPr>
            </a:pPr>
            <a:r>
              <a:rPr sz="1950" b="0">
                <a:solidFill>
                  <a:srgbClr val="F7F7F8"/>
                </a:solidFill>
              </a:rPr>
              <a:t>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AAF59-3782-4520-B77E-411A9377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E36CB-FD24-475D-9E82-69F6DDD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01000001</a:t>
            </a:r>
          </a:p>
        </p:txBody>
      </p:sp>
      <p:sp>
        <p:nvSpPr>
          <p:cNvPr id="17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52A665A1-726D-404C-811A-3975C83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76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C76F795F-E7DE-4AE4-A324-FBA16E23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72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Unicode 讓不同語言共享穩定的編碼規則。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1ea2822c1433a"/>
          <a:stretch xmlns:a="http://schemas.openxmlformats.org/drawingml/2006/main"/>
        </p:blipFill>
        <p:spPr>
          <a:xfrm xmlns:a="http://schemas.openxmlformats.org/drawingml/2006/main" flipH="0">
            <a:off x="4905375" y="4257780"/>
            <a:ext cx="1285875" cy="7236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841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131C3-5C8E-427C-B884-30DC2E89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E7810-304F-47CB-8554-73916E62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3B7C9-5743-4BE0-A35D-D408EDFF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27F87-E863-4501-984F-D73D6200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7470A-ECFF-4EC5-B177-8D8BD18C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圖片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88ACE-6C8B-4CC4-B3E2-AB0059DC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09/12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F2352-82C8-4FB1-A074-C35BE11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5EC5-C25F-4288-B266-6A20A1FD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C1B00B-DCFC-475F-B1FD-3416BB5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圖片，是一格一格的顏色資料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9117091a94b03"/>
          <a:srcRect xmlns:a="http://schemas.openxmlformats.org/drawingml/2006/main" l="0" t="903" r="0" b="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2000250"/>
            <a:ext cx="723900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6836E-873F-4EF9-B0C1-9DE6809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F8CD2-EB6C-4AA0-AF7A-CCC9C05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7F8"/>
                </a:solidFill>
              </a:defRPr>
            </a:pPr>
            <a:r>
              <a:rPr sz="1725" b="1">
                <a:solidFill>
                  <a:srgbClr val="F7F7F8"/>
                </a:solidFill>
              </a:rPr>
              <a:t>圖片 → 像素格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601D8-30EC-456F-9197-91845F29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04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C12F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079AF-FFF1-4B17-8F8C-65C7734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C12F"/>
                </a:solidFill>
              </a:defRPr>
            </a:pPr>
            <a:r>
              <a:rPr sz="1725" b="1">
                <a:solidFill>
                  <a:srgbClr val="FFC12F"/>
                </a:solidFill>
              </a:rPr>
              <a:t>像素 → 顏色數值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B6478-46CC-45CB-BEA9-EAC6B3D5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04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A0071-2638-4F33-BDD7-A9292DE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7F8"/>
                </a:solidFill>
              </a:defRPr>
            </a:pPr>
            <a:r>
              <a:rPr sz="1725" b="1">
                <a:solidFill>
                  <a:srgbClr val="F7F7F8"/>
                </a:solidFill>
              </a:rPr>
              <a:t>顏色數值 → 位元</a:t>
            </a:r>
          </a:p>
        </p:txBody>
      </p:sp>
      <p:sp>
        <p:nvSpPr>
          <p:cNvPr id="17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BC2EC89B-C9E6-461E-9416-FB5CA25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48300"/>
            <a:ext cx="3667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636E2A39-3CA4-4355-8C90-737EEB53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530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像素越多、顏色越細，通常需要的資料越多。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9a16bbe304730"/>
          <a:stretch xmlns:a="http://schemas.openxmlformats.org/drawingml/2006/main"/>
        </p:blipFill>
        <p:spPr>
          <a:xfrm xmlns:a="http://schemas.openxmlformats.org/drawingml/2006/main" flipH="1">
            <a:off x="10001250" y="4187781"/>
            <a:ext cx="1619250" cy="9113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6290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31C0F-EFE5-4B89-B151-70B6DACE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F479F-C4D3-45D5-95AA-DDE72093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803DB-EC7D-4ED7-AB3F-6165AFF0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800B2-A8F0-4ADA-A91E-20B5DC5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736AF-7ED4-4974-855C-007CA1D2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聲音 SOUND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6C863-F4BE-4D67-8DDA-674CE437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10/12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DBB9E-83EA-465D-BE92-C15EE40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EBBC-362A-4CCE-B7E4-A553D776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96D640-359B-4726-99EE-4E5784F0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5191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手機只是把</a:t>
            </a:r>
          </a:p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同一套架構縮小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73e65cb4e4e8b"/>
          <a:srcRect xmlns:a="http://schemas.openxmlformats.org/drawingml/2006/main" l="16513" t="0" r="165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00750" y="1238250"/>
            <a:ext cx="5667375" cy="4762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1F006-7097-4F68-8C93-6E96162C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FFCD5-FCE9-43F2-A04C-A26E941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7F7F8"/>
                </a:solidFill>
              </a:defRPr>
            </a:pPr>
            <a:r>
              <a:rPr sz="2025" b="1">
                <a:solidFill>
                  <a:srgbClr val="F7F7F8"/>
                </a:solidFill>
              </a:rPr>
              <a:t>固定間隔取樣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6BCAD-3C82-4DF2-8C90-3CBE1ECF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0819D-A987-4677-8E26-5AC9D6E3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7F7F8"/>
                </a:solidFill>
              </a:defRPr>
            </a:pPr>
            <a:r>
              <a:rPr sz="2025" b="1">
                <a:solidFill>
                  <a:srgbClr val="F7F7F8"/>
                </a:solidFill>
              </a:rPr>
              <a:t>每次記下波形高度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0C9F2-6EDF-460A-B754-03CCE829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A3151-240C-4D23-AB57-FAB28608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7F7F8"/>
                </a:solidFill>
              </a:defRPr>
            </a:pPr>
            <a:r>
              <a:rPr sz="2025" b="1">
                <a:solidFill>
                  <a:srgbClr val="F7F7F8"/>
                </a:solidFill>
              </a:rPr>
              <a:t>數值再轉成位元</a:t>
            </a:r>
          </a:p>
        </p:txBody>
      </p:sp>
      <p:sp>
        <p:nvSpPr>
          <p:cNvPr id="17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A7531BF4-8E9E-4BB0-87E8-C8EA3CEE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C12F">
              <a:alpha val="14000"/>
            </a:srgbClr>
          </a:solidFill>
          <a:ln xmlns:a="http://schemas.openxmlformats.org/drawingml/2006/main" w="19050">
            <a:solidFill>
              <a:srgbClr val="FFC12F">
                <a:alpha val="65000"/>
              </a:srgbClr>
            </a:solidFill>
            <a:prstDash val="solid"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4453BD44-707C-456F-812A-E4CD8D4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量得越密、記得越細，通常越接近原來的聲音。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990d8a7ac4ae9"/>
          <a:stretch xmlns:a="http://schemas.openxmlformats.org/drawingml/2006/main"/>
        </p:blipFill>
        <p:spPr>
          <a:xfrm xmlns:a="http://schemas.openxmlformats.org/drawingml/2006/main" flipH="1">
            <a:off x="4191000" y="4340953"/>
            <a:ext cx="2428875" cy="13669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4173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5A4F4-C151-4373-9C8B-2067E690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74618-DD5A-41A2-BBF9-066CFD2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3D94A-9588-4945-9774-7D54157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8B4CE-0F12-407E-BD97-6C0632B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40665-A743-44DD-BFBB-E58CC8C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把所有線索串起來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13100-5113-4258-9E45-8517F45E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11/12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5777D-CD50-4B2C-BFE2-4D6A238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5104E-6063-4C08-88DB-8C82F0A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0A224F-C68C-4810-81E2-C28A7BC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7F7F8"/>
                </a:solidFill>
              </a:defRPr>
            </a:pPr>
            <a:r>
              <a:rPr sz="3600" b="1">
                <a:solidFill>
                  <a:srgbClr val="F7F7F8"/>
                </a:solidFill>
              </a:rPr>
              <a:t>不同內容，共用同一套底層語言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367C0-1D3C-407A-9171-C225DD8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A8B8C9"/>
                </a:solidFill>
              </a:defRPr>
            </a:pPr>
            <a:r>
              <a:rPr sz="1650">
                <a:solidFill>
                  <a:srgbClr val="A8B8C9"/>
                </a:solidFill>
              </a:rPr>
              <a:t>數字、文字、圖片與聲音，都走同一條路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ED610-B8F8-4747-B793-5B095A99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57A7E-1A86-4FED-BD66-AFBB1E3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內容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ABB4-106B-4FC4-BC0D-2C940C23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315D9-798A-4D00-822F-DEFBA09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68C0E-8421-453E-82A1-534D9364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數值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BBABF-B67E-4D6E-B517-C0FE967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4771E-DDF2-40C0-987C-07FB468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C12F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67F29-2DB1-4822-A959-475D2B23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C12F"/>
                </a:solidFill>
              </a:defRPr>
            </a:pPr>
            <a:r>
              <a:rPr sz="1950" b="1">
                <a:solidFill>
                  <a:srgbClr val="FFC12F"/>
                </a:solidFill>
              </a:rPr>
              <a:t>位元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F7074-F7EF-4A98-AB78-F951DEF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653C1-D66D-4366-A7CA-FA0A805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6A9BD-BE88-49CB-A0F3-D710B43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開關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085C9-0AB1-483F-980C-2EE86EC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46C8FF"/>
                </a:solidFill>
              </a:defRPr>
            </a:pPr>
            <a:r>
              <a:rPr sz="2850" b="1">
                <a:solidFill>
                  <a:srgbClr val="46C8F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D0C2D-8804-4EBB-94CD-2A91AF78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13811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982C4">
              <a:alpha val="20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3F2A5-0616-450E-8BFD-3682A39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7F7F8"/>
                </a:solidFill>
              </a:defRPr>
            </a:pPr>
            <a:r>
              <a:rPr sz="1950" b="1">
                <a:solidFill>
                  <a:srgbClr val="F7F7F8"/>
                </a:solidFill>
              </a:rPr>
              <a:t>體驗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22808-89BC-4A91-8A76-16CD27F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86391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982C4">
              <a:alpha val="10000"/>
            </a:srgbClr>
          </a:solidFill>
          <a:ln xmlns:a="http://schemas.openxmlformats.org/drawingml/2006/main" w="9525">
            <a:solidFill>
              <a:srgbClr val="1982C4">
                <a:alpha val="4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093E7-4FA3-438B-B222-D4F2D19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7F7F8"/>
                </a:solidFill>
              </a:defRPr>
            </a:pPr>
            <a:r>
              <a:rPr sz="1800">
                <a:solidFill>
                  <a:srgbClr val="F7F7F8"/>
                </a:solidFill>
              </a:rPr>
              <a:t>零和一不是限制，而是所有數位內容的共同語言。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97b527ae643d1"/>
          <a:stretch xmlns:a="http://schemas.openxmlformats.org/drawingml/2006/main"/>
        </p:blipFill>
        <p:spPr>
          <a:xfrm xmlns:a="http://schemas.openxmlformats.org/drawingml/2006/main" flipH="0">
            <a:off x="9239250" y="3145785"/>
            <a:ext cx="2952750" cy="16618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3453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531E2-8ECC-4486-B74B-8CCCFE76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37F80-0D82-4E4B-8F7A-6C6A0BB5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AFED9-DE09-4B43-9626-ECBCC5F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7F7F8"/>
                </a:solidFill>
              </a:defRPr>
            </a:pPr>
            <a:r>
              <a:rPr sz="1875" b="1">
                <a:solidFill>
                  <a:srgbClr val="F7F7F8"/>
                </a:solidFill>
              </a:rPr>
              <a:t>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1801-2D12-4F4A-8786-52B695A9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"/>
            <a:ext cx="90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C12F"/>
                </a:solidFill>
              </a:defRPr>
            </a:pPr>
            <a:r>
              <a:rPr sz="1875" b="1">
                <a:solidFill>
                  <a:srgbClr val="FFC12F"/>
                </a:solidFill>
              </a:rPr>
              <a:t>XiNew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682AF-0E86-43A6-BFF6-369C6661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A8B8C9"/>
                </a:solidFill>
              </a:defRPr>
            </a:pPr>
            <a:r>
              <a:rPr sz="1125" b="1">
                <a:solidFill>
                  <a:srgbClr val="A8B8C9"/>
                </a:solidFill>
              </a:rPr>
              <a:t>一題確認你真的懂了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AAEA4-A1DA-4695-BC86-33B5043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3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C12F"/>
                </a:solidFill>
              </a:defRPr>
            </a:pPr>
            <a:r>
              <a:rPr sz="1200" b="1">
                <a:solidFill>
                  <a:srgbClr val="FFC12F"/>
                </a:solidFill>
              </a:rPr>
              <a:t>EP02 · 12/12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AC913-F997-4A78-9D03-92CA295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A8B8C9"/>
                </a:solidFill>
              </a:defRPr>
            </a:pPr>
            <a:r>
              <a:rPr sz="975">
                <a:solidFill>
                  <a:srgbClr val="A8B8C9"/>
                </a:solidFill>
              </a:rPr>
              <a:t>為什麼電腦只懂 0 和 1？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5A811-8E92-40F4-988E-CDE4505A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38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FC12F"/>
                </a:solidFill>
              </a:defRPr>
            </a:pPr>
            <a:r>
              <a:rPr sz="975" b="1">
                <a:solidFill>
                  <a:srgbClr val="FFC12F"/>
                </a:solidFill>
              </a:rPr>
              <a:t>XINEW SAYS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77D4B1-1622-46A4-99A5-79BF56F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7F7F8"/>
                </a:solidFill>
              </a:defRPr>
            </a:pPr>
            <a:r>
              <a:rPr sz="3450" b="1">
                <a:solidFill>
                  <a:srgbClr val="F7F7F8"/>
                </a:solidFill>
              </a:rPr>
              <a:t>十三的五位元二進位，是什麼？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5FA24-F09E-4763-9400-FF5F2AF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6675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01B28">
              <a:alpha val="92000"/>
            </a:srgbClr>
          </a:solidFill>
          <a:ln xmlns:a="http://schemas.openxmlformats.org/drawingml/2006/main" w="19050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82025-F9D0-4932-AFF3-2B076F34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A8B8C9"/>
                </a:solidFill>
              </a:defRPr>
            </a:pPr>
            <a:r>
              <a:rPr sz="1350" b="1">
                <a:solidFill>
                  <a:srgbClr val="A8B8C9"/>
                </a:solidFill>
              </a:rPr>
              <a:t>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6AAFE-93C2-443B-8524-117FBCC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FC12F"/>
                </a:solidFill>
              </a:defRPr>
            </a:pPr>
            <a:r>
              <a:rPr sz="3600" b="1">
                <a:solidFill>
                  <a:srgbClr val="FFC12F"/>
                </a:solidFill>
              </a:rPr>
              <a:t>01101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639F2-FAB8-40A4-9CAF-6FF95963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7F7F8"/>
                </a:solidFill>
              </a:defRPr>
            </a:pPr>
            <a:r>
              <a:rPr sz="1725">
                <a:solidFill>
                  <a:srgbClr val="F7F7F8"/>
                </a:solidFill>
              </a:rPr>
              <a:t>因為十三等於八加四加一。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D000B-DD6B-4DAA-A082-814A2D77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A555C-96A2-4FA6-9173-35EB6A0A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開關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A8885-1D22-47B2-9AF7-D27F6D62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720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3DDEA-9833-4E50-A403-62A3F63F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686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位元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FB8EC-DFD8-4DF9-A8D6-A86D7D8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C12F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472AD-7C05-43C7-9AF6-5C7C43D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C12F"/>
                </a:solidFill>
              </a:defRPr>
            </a:pPr>
            <a:r>
              <a:rPr sz="1500" b="1">
                <a:solidFill>
                  <a:srgbClr val="FFC12F"/>
                </a:solidFill>
              </a:rPr>
              <a:t>編碼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5E484-3975-4832-B2F4-BBBC3402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720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5BE19-0DBD-4350-BAD1-D25745D2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像素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77C35-0281-4DB8-A6A8-DE91A87A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114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82C4">
              <a:alpha val="18000"/>
            </a:srgbClr>
          </a:solidFill>
          <a:ln xmlns:a="http://schemas.openxmlformats.org/drawingml/2006/main" w="14288">
            <a:solidFill>
              <a:srgbClr val="1982C4">
                <a:alpha val="6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778C1-AD6E-4561-BAEA-2F03D35A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86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7F7F8"/>
                </a:solidFill>
              </a:defRPr>
            </a:pPr>
            <a:r>
              <a:rPr sz="1500" b="1">
                <a:solidFill>
                  <a:srgbClr val="F7F7F8"/>
                </a:solidFill>
              </a:rPr>
              <a:t>取樣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E280F-B0DD-454F-BF5B-3F91BC9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46C8FF"/>
                </a:solidFill>
              </a:defRPr>
            </a:pPr>
            <a:r>
              <a:rPr sz="1875" b="1">
                <a:solidFill>
                  <a:srgbClr val="46C8FF"/>
                </a:solidFill>
              </a:rPr>
              <a:t>下一集：沒有作業系統的一天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153f4ddb0425a"/>
          <a:stretch xmlns:a="http://schemas.openxmlformats.org/drawingml/2006/main"/>
        </p:blipFill>
        <p:spPr>
          <a:xfrm xmlns:a="http://schemas.openxmlformats.org/drawingml/2006/main" flipH="0">
            <a:off x="7524750" y="2645495"/>
            <a:ext cx="4476750" cy="25195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2026-07-25T07:38:47.7790000Z</dcterms:created>
  <dcterms:modified xsi:type="dcterms:W3CDTF">2026-07-25T07:38:47.7790000Z</dcterms:modified>
</coreProperties>
</file>