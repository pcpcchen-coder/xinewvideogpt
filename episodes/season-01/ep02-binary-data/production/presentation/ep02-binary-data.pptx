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87b40d733340b8" /><Relationship Type="http://schemas.openxmlformats.org/officeDocument/2006/relationships/extended-properties" Target="/docProps/app.xml" Id="R92718639e0e8448e" /><Relationship Type="http://schemas.openxmlformats.org/officeDocument/2006/relationships/officeDocument" Target="/ppt/presentation.xml" Id="R65c13b499b9b41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391741608e4b2f"/>
  </p:sldMasterIdLst>
  <p:notesMasterIdLst>
    <p:notesMasterId xmlns:r="http://schemas.openxmlformats.org/officeDocument/2006/relationships" r:id="R7e383b0977c04132"/>
  </p:notesMasterIdLst>
  <p:sldIdLst>
    <p:sldId xmlns:r="http://schemas.openxmlformats.org/officeDocument/2006/relationships" id="256" r:id="Ra775fc56779f4ed7"/>
    <p:sldId xmlns:r="http://schemas.openxmlformats.org/officeDocument/2006/relationships" id="257" r:id="R3167ac8aab3345f2"/>
    <p:sldId xmlns:r="http://schemas.openxmlformats.org/officeDocument/2006/relationships" id="258" r:id="R8d6f5bd638994522"/>
    <p:sldId xmlns:r="http://schemas.openxmlformats.org/officeDocument/2006/relationships" id="259" r:id="R6cc32753565a4f28"/>
    <p:sldId xmlns:r="http://schemas.openxmlformats.org/officeDocument/2006/relationships" id="260" r:id="R95f150dfd88c47d2"/>
    <p:sldId xmlns:r="http://schemas.openxmlformats.org/officeDocument/2006/relationships" id="261" r:id="R74dc989ff33b4b93"/>
    <p:sldId xmlns:r="http://schemas.openxmlformats.org/officeDocument/2006/relationships" id="262" r:id="R1f91602d48f843fc"/>
    <p:sldId xmlns:r="http://schemas.openxmlformats.org/officeDocument/2006/relationships" id="263" r:id="R0aedabba4a6b4001"/>
    <p:sldId xmlns:r="http://schemas.openxmlformats.org/officeDocument/2006/relationships" id="264" r:id="R840ad7798ad847b8"/>
    <p:sldId xmlns:r="http://schemas.openxmlformats.org/officeDocument/2006/relationships" id="265" r:id="Rf7fab65bbd2349ff"/>
    <p:sldId xmlns:r="http://schemas.openxmlformats.org/officeDocument/2006/relationships" id="266" r:id="R0ce56042f48347fc"/>
    <p:sldId xmlns:r="http://schemas.openxmlformats.org/officeDocument/2006/relationships" id="267" r:id="R4e9a8fe7fb6b4d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a24d81bcc14ed6" /><Relationship Type="http://schemas.openxmlformats.org/officeDocument/2006/relationships/slideMaster" Target="/ppt/slideMasters/slideMaster1.xml" Id="Ref391741608e4b2f" /><Relationship Type="http://schemas.openxmlformats.org/officeDocument/2006/relationships/notesMaster" Target="/ppt/notesMasters/notesMaster1.xml" Id="R7e383b0977c04132" /><Relationship Type="http://schemas.openxmlformats.org/officeDocument/2006/relationships/presProps" Target="/ppt/presProps.xml" Id="Rb0a4bb66aefd43cf" /><Relationship Type="http://schemas.openxmlformats.org/officeDocument/2006/relationships/tableStyles" Target="/ppt/tableStyles.xml" Id="R15bb248c7e344944" /><Relationship Type="http://schemas.openxmlformats.org/officeDocument/2006/relationships/slide" Target="/ppt/slides/slide1.xml" Id="Ra775fc56779f4ed7" /><Relationship Type="http://schemas.openxmlformats.org/officeDocument/2006/relationships/slide" Target="/ppt/slides/slide2.xml" Id="R3167ac8aab3345f2" /><Relationship Type="http://schemas.openxmlformats.org/officeDocument/2006/relationships/slide" Target="/ppt/slides/slide3.xml" Id="R8d6f5bd638994522" /><Relationship Type="http://schemas.openxmlformats.org/officeDocument/2006/relationships/slide" Target="/ppt/slides/slide4.xml" Id="R6cc32753565a4f28" /><Relationship Type="http://schemas.openxmlformats.org/officeDocument/2006/relationships/slide" Target="/ppt/slides/slide5.xml" Id="R95f150dfd88c47d2" /><Relationship Type="http://schemas.openxmlformats.org/officeDocument/2006/relationships/slide" Target="/ppt/slides/slide6.xml" Id="R74dc989ff33b4b93" /><Relationship Type="http://schemas.openxmlformats.org/officeDocument/2006/relationships/slide" Target="/ppt/slides/slide7.xml" Id="R1f91602d48f843fc" /><Relationship Type="http://schemas.openxmlformats.org/officeDocument/2006/relationships/slide" Target="/ppt/slides/slide8.xml" Id="R0aedabba4a6b4001" /><Relationship Type="http://schemas.openxmlformats.org/officeDocument/2006/relationships/slide" Target="/ppt/slides/slide9.xml" Id="R840ad7798ad847b8" /><Relationship Type="http://schemas.openxmlformats.org/officeDocument/2006/relationships/slide" Target="/ppt/slides/slide10.xml" Id="Rf7fab65bbd2349ff" /><Relationship Type="http://schemas.openxmlformats.org/officeDocument/2006/relationships/slide" Target="/ppt/slides/slide11.xml" Id="R0ce56042f48347fc" /><Relationship Type="http://schemas.openxmlformats.org/officeDocument/2006/relationships/slide" Target="/ppt/slides/slide12.xml" Id="R4e9a8fe7fb6b4d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e3405c902043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49bf8d17384c90" /><Relationship Type="http://schemas.openxmlformats.org/officeDocument/2006/relationships/notesMaster" Target="/ppt/notesMasters/notesMaster1.xml" Id="R5859b88f7e2344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d0751bd8a407f" /><Relationship Type="http://schemas.openxmlformats.org/officeDocument/2006/relationships/notesMaster" Target="/ppt/notesMasters/notesMaster1.xml" Id="Reaa5818dacbb4c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9ce939af6a4c22" /><Relationship Type="http://schemas.openxmlformats.org/officeDocument/2006/relationships/notesMaster" Target="/ppt/notesMasters/notesMaster1.xml" Id="R23da24c5673c4e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a427220c1541b0" /><Relationship Type="http://schemas.openxmlformats.org/officeDocument/2006/relationships/notesMaster" Target="/ppt/notesMasters/notesMaster1.xml" Id="Ra432fcdb3e534f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bce1c8b58f498d" /><Relationship Type="http://schemas.openxmlformats.org/officeDocument/2006/relationships/notesMaster" Target="/ppt/notesMasters/notesMaster1.xml" Id="Ra8273f75aac648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7b82947ec94f44" /><Relationship Type="http://schemas.openxmlformats.org/officeDocument/2006/relationships/notesMaster" Target="/ppt/notesMasters/notesMaster1.xml" Id="R908f4719438945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da3886d2354df9" /><Relationship Type="http://schemas.openxmlformats.org/officeDocument/2006/relationships/notesMaster" Target="/ppt/notesMasters/notesMaster1.xml" Id="Rb163ddd917544f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97fcfcc8f14b62" /><Relationship Type="http://schemas.openxmlformats.org/officeDocument/2006/relationships/notesMaster" Target="/ppt/notesMasters/notesMaster1.xml" Id="R2fa3da59f42e46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8b65b4530445b8" /><Relationship Type="http://schemas.openxmlformats.org/officeDocument/2006/relationships/notesMaster" Target="/ppt/notesMasters/notesMaster1.xml" Id="R8c58478485be45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fca2cd638946a3" /><Relationship Type="http://schemas.openxmlformats.org/officeDocument/2006/relationships/notesMaster" Target="/ppt/notesMasters/notesMaster1.xml" Id="Rce513717a7624c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48b03260c444cf" /><Relationship Type="http://schemas.openxmlformats.org/officeDocument/2006/relationships/notesMaster" Target="/ppt/notesMasters/notesMaster1.xml" Id="R95189a5b5ddf4f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9860fe1d384748" /><Relationship Type="http://schemas.openxmlformats.org/officeDocument/2006/relationships/notesMaster" Target="/ppt/notesMasters/notesMaster1.xml" Id="R303ac12aaab148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你現在看到的文字、照片和音樂，在電腦裡其實都不是原來的樣子。</a:t>
            </a:r>
          </a:p>
          <a:p xmlns:a="http://schemas.openxmlformats.org/drawingml/2006/main">
            <a:r>
              <a:t>它們最後會被翻譯成一長串零和一，再交給晶片裡無數的小開關處理。</a:t>
            </a:r>
          </a:p>
          <a:p xmlns:a="http://schemas.openxmlformats.org/drawingml/2006/main">
            <a:r>
              <a:t>我是陳犀牛，今天帶你追查這套只有兩個符號，卻能裝下整個數位世界的密碼。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>- Opening theme: https://github.com/pcpcchen-coder/XiNewIPs/blob/main/assets/%E9%99%B3%E7%8A%80%E7%89%9B%E9%96%8B%E5%A0%B4%E4%B8%BB%E9%A1%8C%E6%9B%B2_%E7%8A%80%E7%89%9B%E8%A7%92%E4%BA%AE%E8%B5%B7%E4%BE%86_v0.mp4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想像房間的燈，開著很亮，關掉很暗，這兩種狀態最容易分清楚。</a:t>
            </a:r>
          </a:p>
          <a:p xmlns:a="http://schemas.openxmlformats.org/drawingml/2006/main">
            <a:r>
              <a:t>如果硬要分成很多個模糊亮度，電壓一有雜訊，機器就可能判斷錯誤。</a:t>
            </a:r>
          </a:p>
          <a:p xmlns:a="http://schemas.openxmlformats.org/drawingml/2006/main">
            <a:r>
              <a:t>所以電腦選擇兩個距離很遠的狀態，可靠、快速，又容易大量複製。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晶片裡的電晶體，就像速度極快的微型開關，能控制電流通過或停止。</a:t>
            </a:r>
          </a:p>
          <a:p xmlns:a="http://schemas.openxmlformats.org/drawingml/2006/main">
            <a:r>
              <a:t>工程師把關閉的狀態記成零，把開啟的狀態記成一，這就是二進位的起點。</a:t>
            </a:r>
          </a:p>
          <a:p xmlns:a="http://schemas.openxmlformats.org/drawingml/2006/main">
            <a:r>
              <a:t>一個開關只能帶一小格資訊，但幾十億個開關合作，就能完成複雜的運算。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一個零或一叫做一個位元，它是數位資料最小的基本單位。</a:t>
            </a:r>
          </a:p>
          <a:p xmlns:a="http://schemas.openxmlformats.org/drawingml/2006/main">
            <a:r>
              <a:t>八個位元排成一組，通常叫做一個位元組，就像八個小抽屜綁在一起。</a:t>
            </a:r>
          </a:p>
          <a:p xmlns:a="http://schemas.openxmlformats.org/drawingml/2006/main">
            <a:r>
              <a:t>一個位元組共有兩百五十六種排列，足以代表許多常用符號和數值。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二進位的每個位置都有價值，從右到左依序是一、二、四、八、十六。</a:t>
            </a:r>
          </a:p>
          <a:p xmlns:a="http://schemas.openxmlformats.org/drawingml/2006/main">
            <a:r>
              <a:t>把某張卡翻開就是選一，蓋起來就是選零；五張卡共有三十二種組合。</a:t>
            </a:r>
          </a:p>
          <a:p xmlns:a="http://schemas.openxmlformats.org/drawingml/2006/main">
            <a:r>
              <a:t>因此一隻手的五個開關，可以從零一路數到三十一，比普通手指數法更有力。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來把十三拆開，它等於八加四加一，所以這三張卡要翻開。</a:t>
            </a:r>
          </a:p>
          <a:p xmlns:a="http://schemas.openxmlformats.org/drawingml/2006/main">
            <a:r>
              <a:t>從十六、八、四、二、一依序寫下狀態，就得到零、一、一、零、一。</a:t>
            </a:r>
          </a:p>
          <a:p xmlns:a="http://schemas.openxmlformats.org/drawingml/2006/main">
            <a:r>
              <a:t>換句話說，二進位不是奇怪暗號，只是用二的倍數重新拼出同一個數字。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八個位元能表示從零到二百五十五，總共兩百五十六種可能。</a:t>
            </a:r>
          </a:p>
          <a:p xmlns:a="http://schemas.openxmlformats.org/drawingml/2006/main">
            <a:r>
              <a:t>資料越複雜，就串起更多位元組，再用更大的單位表示檔案大小。</a:t>
            </a:r>
          </a:p>
          <a:p xmlns:a="http://schemas.openxmlformats.org/drawingml/2006/main">
            <a:r>
              <a:t>你手機上看到的 KB、MB、GB 和 TB，都是這些小開關一層一層累積起來。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文字進入電腦時，會先查一張大家共用的編碼表，把每個字對應到一個號碼。</a:t>
            </a:r>
          </a:p>
          <a:p xmlns:a="http://schemas.openxmlformats.org/drawingml/2006/main">
            <a:r>
              <a:t>英文字母大寫 A 的號碼是六十五，再寫成八位元，就是零一零零零零零一。</a:t>
            </a:r>
          </a:p>
          <a:p xmlns:a="http://schemas.openxmlformats.org/drawingml/2006/main">
            <a:r>
              <a:t>中文和世界各地的文字，則靠統一碼取得自己的編號，才能跨裝置正確交換。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數位圖片是一大片像素拼成的馬賽克，每個像素記錄自己的顏色。</a:t>
            </a:r>
          </a:p>
          <a:p xmlns:a="http://schemas.openxmlformats.org/drawingml/2006/main">
            <a:r>
              <a:t>黑白圖片可以用零代表黑、一代表白；彩色圖片會用更多位元記錄紅綠藍的強弱。</a:t>
            </a:r>
          </a:p>
          <a:p xmlns:a="http://schemas.openxmlformats.org/drawingml/2006/main">
            <a:r>
              <a:t>像素越多、顏色越細，資料通常也越大，所以高畫質照片會佔更多空間。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聲音原本是連續起伏的空氣震動，電腦會固定間隔量一次波形的高度。</a:t>
            </a:r>
          </a:p>
          <a:p xmlns:a="http://schemas.openxmlformats.org/drawingml/2006/main">
            <a:r>
              <a:t>每次測量都得到一個數字，再把這些數字依順序轉成零和一保存。</a:t>
            </a:r>
          </a:p>
          <a:p xmlns:a="http://schemas.openxmlformats.org/drawingml/2006/main">
            <a:r>
              <a:t>測量越密、每次記得越精細，聲音通常越接近原貌，檔案也會跟著變大。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現在把線索串起來：數字、文字、圖片和聲音，先被轉成規則清楚的數值。</a:t>
            </a:r>
          </a:p>
          <a:p xmlns:a="http://schemas.openxmlformats.org/drawingml/2006/main">
            <a:r>
              <a:t>這些數值再拆成位元，由晶片裡的開關讀取、比較、移動和計算。</a:t>
            </a:r>
          </a:p>
          <a:p xmlns:a="http://schemas.openxmlformats.org/drawingml/2006/main">
            <a:r>
              <a:t>零和一不等於內容很簡單，而是讓所有內容共享一套可靠的底層語言。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最後一題：如果五張卡的價值是十六、八、四、二、一，十三要翻開哪些卡？</a:t>
            </a:r>
          </a:p>
          <a:p xmlns:a="http://schemas.openxmlformats.org/drawingml/2006/main">
            <a:r>
              <a:t>答案是八、四和一，寫成五位元就是零一一零一，你成功把十進位翻譯成二進位了。</a:t>
            </a:r>
          </a:p>
          <a:p xmlns:a="http://schemas.openxmlformats.org/drawingml/2006/main">
            <a:r>
              <a:t>下一集，我們要認識管理所有硬體與程式的大管家：作業系統。我是陳犀牛，我們到時候見。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https://github.com/pcpcchen-coder/video-production-skill-kimi</a:t>
            </a:r>
          </a:p>
          <a:p xmlns:a="http://schemas.openxmlformats.org/drawingml/2006/main">
            <a:r>
              <a:t>- https://github.com/pcpcchen-coder/XiNewIPs</a:t>
            </a:r>
          </a:p>
          <a:p xmlns:a="http://schemas.openxmlformats.org/drawingml/2006/main">
            <a:r>
              <a:t>- https://github.com/pcpcchen-coder/XiNewVideoGPT</a:t>
            </a:r>
          </a:p>
          <a:p xmlns:a="http://schemas.openxmlformats.org/drawingml/2006/main">
            <a:r>
              <a:t>- https://classic.csunplugged.org/activities/binary-numbers/</a:t>
            </a:r>
          </a:p>
          <a:p xmlns:a="http://schemas.openxmlformats.org/drawingml/2006/main">
            <a:r>
              <a:t>- https://www.unicode.org/versions/Unicode17.0.0/core-spec/chapter-2/</a:t>
            </a:r>
          </a:p>
          <a:p xmlns:a="http://schemas.openxmlformats.org/drawingml/2006/main">
            <a:r>
              <a:t>- https://www.unicode.org/standard/principles.html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1aecccfc941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58b356a3d4479a" /><Relationship Type="http://schemas.openxmlformats.org/officeDocument/2006/relationships/slideLayout" Target="/ppt/slideLayouts/slideLayout1.xml" Id="Rc2a477facc9b42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a477facc9b42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565857b52490f" /><Relationship Type="http://schemas.openxmlformats.org/officeDocument/2006/relationships/image" Target="/ppt/media/image.png" Id="Rfae8b7f7d32c4194" /><Relationship Type="http://schemas.openxmlformats.org/officeDocument/2006/relationships/image" Target="/ppt/media/image2.png" Id="Rdb0d260279894eca" /><Relationship Type="http://schemas.openxmlformats.org/officeDocument/2006/relationships/notesSlide" Target="/ppt/notesSlides/notesSlide1.xml" Id="R108eabc2c71041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f97312c54489d" /><Relationship Type="http://schemas.openxmlformats.org/officeDocument/2006/relationships/image" Target="/ppt/media/image3.png" Id="R77d6d522ab594823" /><Relationship Type="http://schemas.openxmlformats.org/officeDocument/2006/relationships/image" Target="/ppt/media/image4.png" Id="R631ab634cecd4847" /><Relationship Type="http://schemas.openxmlformats.org/officeDocument/2006/relationships/notesSlide" Target="/ppt/notesSlides/notesSlide2.xml" Id="R1dd32da0c96d4f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a28085a624a02" /><Relationship Type="http://schemas.openxmlformats.org/officeDocument/2006/relationships/image" Target="/ppt/media/image5.png" Id="R715c332452244320" /><Relationship Type="http://schemas.openxmlformats.org/officeDocument/2006/relationships/image" Target="/ppt/media/image6.png" Id="R9151a53dd4f84af7" /><Relationship Type="http://schemas.openxmlformats.org/officeDocument/2006/relationships/notesSlide" Target="/ppt/notesSlides/notesSlide3.xml" Id="R6dce3f6bf15040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51408e7a94f0b" /><Relationship Type="http://schemas.openxmlformats.org/officeDocument/2006/relationships/image" Target="/ppt/media/image7.png" Id="R81691f905de04636" /><Relationship Type="http://schemas.openxmlformats.org/officeDocument/2006/relationships/notesSlide" Target="/ppt/notesSlides/notesSlide4.xml" Id="Reb652d9a110841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bc4a558e946b8" /><Relationship Type="http://schemas.openxmlformats.org/officeDocument/2006/relationships/image" Target="/ppt/media/image8.png" Id="Re8f7b40d1bc14b85" /><Relationship Type="http://schemas.openxmlformats.org/officeDocument/2006/relationships/image" Target="/ppt/media/image9.png" Id="R49a96f5d391640db" /><Relationship Type="http://schemas.openxmlformats.org/officeDocument/2006/relationships/notesSlide" Target="/ppt/notesSlides/notesSlide5.xml" Id="R47e864b8d32346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315b7cd2d4cfc" /><Relationship Type="http://schemas.openxmlformats.org/officeDocument/2006/relationships/image" Target="/ppt/media/image10.png" Id="R1422707241f74d8e" /><Relationship Type="http://schemas.openxmlformats.org/officeDocument/2006/relationships/notesSlide" Target="/ppt/notesSlides/notesSlide6.xml" Id="R6be6eee62d374b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ddd94a94344a3d" /><Relationship Type="http://schemas.openxmlformats.org/officeDocument/2006/relationships/image" Target="/ppt/media/image11.png" Id="R0f3d73fa62334db4" /><Relationship Type="http://schemas.openxmlformats.org/officeDocument/2006/relationships/notesSlide" Target="/ppt/notesSlides/notesSlide7.xml" Id="Rd859ee11f14848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c491492814fe8" /><Relationship Type="http://schemas.openxmlformats.org/officeDocument/2006/relationships/image" Target="/ppt/media/image12.png" Id="R7ceb09a90ba04cf4" /><Relationship Type="http://schemas.openxmlformats.org/officeDocument/2006/relationships/image" Target="/ppt/media/image13.png" Id="R0419ac5d84e54129" /><Relationship Type="http://schemas.openxmlformats.org/officeDocument/2006/relationships/notesSlide" Target="/ppt/notesSlides/notesSlide8.xml" Id="Rbe01d32739b745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e8a3150ce4960" /><Relationship Type="http://schemas.openxmlformats.org/officeDocument/2006/relationships/image" Target="/ppt/media/image14.png" Id="R741d837cbdd947ed" /><Relationship Type="http://schemas.openxmlformats.org/officeDocument/2006/relationships/image" Target="/ppt/media/image15.png" Id="Rbc4545131b1f4388" /><Relationship Type="http://schemas.openxmlformats.org/officeDocument/2006/relationships/notesSlide" Target="/ppt/notesSlides/notesSlide9.xml" Id="R481e9f3cf3a94d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eca6790793405d" /><Relationship Type="http://schemas.openxmlformats.org/officeDocument/2006/relationships/image" Target="/ppt/media/image16.png" Id="Rb3b8ef71d525462f" /><Relationship Type="http://schemas.openxmlformats.org/officeDocument/2006/relationships/image" Target="/ppt/media/image17.png" Id="R0e3cace52f4f4e6b" /><Relationship Type="http://schemas.openxmlformats.org/officeDocument/2006/relationships/notesSlide" Target="/ppt/notesSlides/notesSlide10.xml" Id="R61e3d6339acb42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aeccf77934f2d" /><Relationship Type="http://schemas.openxmlformats.org/officeDocument/2006/relationships/image" Target="/ppt/media/image11.png" Id="R02220f263a4d469e" /><Relationship Type="http://schemas.openxmlformats.org/officeDocument/2006/relationships/notesSlide" Target="/ppt/notesSlides/notesSlide11.xml" Id="R7859edcffc6a4d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05aab15174709" /><Relationship Type="http://schemas.openxmlformats.org/officeDocument/2006/relationships/image" Target="/ppt/media/image18.png" Id="R9a824519d4044813" /><Relationship Type="http://schemas.openxmlformats.org/officeDocument/2006/relationships/notesSlide" Target="/ppt/notesSlides/notesSlide12.xml" Id="R925a07e949c54372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249B8-EE74-45F7-A6A3-BD753AB1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1BEC2-1576-4D8E-B92F-F2AEAED8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0A0A2-D261-4C4C-96A1-DF37A753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A4E55-DD5B-48B9-80BC-C1B410D6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52410-6125-4CEE-8BED-D77A8E06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CHEN XiNew · TECH CLASS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E7520-72A8-4FBE-9F2D-AB5C8A17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01/12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D7FC2C-CD0D-4FE0-98A5-64E9D50B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7F700-BC97-4E0D-930B-399EFD81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8b7f7d32c4194"/>
          <a:srcRect xmlns:a="http://schemas.openxmlformats.org/drawingml/2006/main" l="0" t="3636" r="0" b="3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76200"/>
            <a:ext cx="12192000" cy="63627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5205B-CB5E-4DA3-B796-03D8CE6B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63627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41222">
                  <a:alpha val="98000"/>
                </a:srgbClr>
              </a:gs>
              <a:gs pos="33000">
                <a:srgbClr val="041222">
                  <a:alpha val="82000"/>
                </a:srgbClr>
              </a:gs>
              <a:gs pos="72000">
                <a:srgbClr val="041222">
                  <a:alpha val="12000"/>
                </a:srgbClr>
              </a:gs>
              <a:gs pos="100000">
                <a:srgbClr val="041222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25EEE-8967-4D6A-8328-05CB3DC6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7367D-C3D7-44B2-B8CD-A3D3DE86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C12F"/>
                </a:solidFill>
              </a:defRPr>
            </a:pPr>
            <a:r>
              <a:rPr sz="1350" b="1">
                <a:solidFill>
                  <a:srgbClr val="FFC12F"/>
                </a:solidFill>
              </a:rPr>
              <a:t>CHEN XiNew · TECH 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97D162-4109-4208-B164-F14C237D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250" b="1">
                <a:solidFill>
                  <a:srgbClr val="F7F7F8"/>
                </a:solidFill>
              </a:defRPr>
            </a:pPr>
            <a:r>
              <a:rPr sz="5250" b="1">
                <a:solidFill>
                  <a:srgbClr val="F7F7F8"/>
                </a:solidFill>
              </a:rPr>
              <a:t>為什麼電腦</a:t>
            </a:r>
          </a:p>
          <a:p xmlns:a="http://schemas.openxmlformats.org/drawingml/2006/main">
            <a:pPr>
              <a:buNone/>
              <a:defRPr sz="5250" b="1">
                <a:solidFill>
                  <a:srgbClr val="F7F7F8"/>
                </a:solidFill>
              </a:defRPr>
            </a:pPr>
            <a:r>
              <a:rPr sz="5250" b="1">
                <a:solidFill>
                  <a:srgbClr val="F7F7F8"/>
                </a:solidFill>
              </a:rPr>
              <a:t>只懂 0 和 1？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71BD87-4CE1-4762-90F7-9AE7210B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7F7F8"/>
                </a:solidFill>
              </a:defRPr>
            </a:pPr>
            <a:r>
              <a:rPr sz="2100">
                <a:solidFill>
                  <a:srgbClr val="F7F7F8"/>
                </a:solidFill>
              </a:rPr>
              <a:t>從微型開關，走進數位世界</a:t>
            </a:r>
          </a:p>
        </p:txBody>
      </p:sp>
      <p:sp>
        <p:nvSpPr>
          <p:cNvPr id="15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7605DB15-81F4-465D-A275-F1F8917A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19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42088B84-684F-4274-8784-F3E1BABF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05275"/>
            <a:ext cx="4810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今天追查：所有內容如何變成兩種狀態。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d260279894eca"/>
          <a:stretch xmlns:a="http://schemas.openxmlformats.org/drawingml/2006/main"/>
        </p:blipFill>
        <p:spPr>
          <a:xfrm xmlns:a="http://schemas.openxmlformats.org/drawingml/2006/main" flipH="1">
            <a:off x="3905250" y="3979223"/>
            <a:ext cx="2952750" cy="16618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908211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9CBBF8-18B6-4ED2-8EAA-CE25E8F3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51567-1B21-4D67-9507-3C8FC579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61527-A9AF-4770-9883-8F7E2C9C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3B236-E9BD-4C88-8215-1DB48556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F66BE-FF6A-4233-A5C9-CB059FEF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可靠 RELIABLE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186E0-8CA4-4FE3-80C0-B75CEA77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02/12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40667-078B-4D16-B385-207B0280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8134F-1888-42D3-A60B-E873054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31AC63-DEB7-4345-A9F3-60985179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可靠的關鍵，是只分成兩種狀態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6d522ab594823"/>
          <a:srcRect xmlns:a="http://schemas.openxmlformats.org/drawingml/2006/main" l="5445" t="0" r="54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2076450"/>
            <a:ext cx="5429250" cy="3429000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25AA4-BCE6-48E5-A2D9-BFB22659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1333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982C4">
              <a:alpha val="22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AFE84-B9FA-4F93-B560-65E62463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7180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OFF 關閉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E98D6-AE16-4C79-920E-C1A7E34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00375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46C8FF"/>
                </a:solidFill>
              </a:defRPr>
            </a:pPr>
            <a:r>
              <a:rPr sz="2250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ED28C-C292-4D12-921E-7DE69F91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57500"/>
            <a:ext cx="1333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C12F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CB231-6D8D-444E-9729-2576C006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97180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雜訊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0B188D-9ED5-4533-B00E-4DE2CC48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000375"/>
            <a:ext cx="238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46C8FF"/>
                </a:solidFill>
              </a:defRPr>
            </a:pPr>
            <a:r>
              <a:rPr sz="2250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37458D-6B0D-4106-ACCE-D9B1C2F4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0"/>
            <a:ext cx="1333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982C4">
              <a:alpha val="22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9F6BD-ADDA-4DF1-ADBF-A9F2293E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71800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ON 開啟</a:t>
            </a:r>
          </a:p>
        </p:txBody>
      </p:sp>
      <p:sp>
        <p:nvSpPr>
          <p:cNvPr id="19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EA115500-FE10-40C6-8773-0E200DFC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62500"/>
            <a:ext cx="476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20" name="takeaway">
            <a:extLst xmlns:a="http://schemas.openxmlformats.org/drawingml/2006/main">
              <a:ext uri="{FF2B5EF4-FFF2-40B4-BE49-F238E27FC236}">
                <a16:creationId xmlns:a16="http://schemas.microsoft.com/office/drawing/2014/main" id="{97852FA7-6AF9-4155-9041-2316DAEC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727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兩種狀態距離夠遠，雜訊來了也較不容易判錯。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b634cecd4847"/>
          <a:stretch xmlns:a="http://schemas.openxmlformats.org/drawingml/2006/main"/>
        </p:blipFill>
        <p:spPr>
          <a:xfrm xmlns:a="http://schemas.openxmlformats.org/drawingml/2006/main" flipH="0">
            <a:off x="4905375" y="4257780"/>
            <a:ext cx="1285875" cy="7236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50996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2D130C-F94F-4008-8AC9-C8DC788A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52649-F8E6-4A43-B452-B678EAD6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14C92-5A07-4A76-830C-BE49B239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ECEEC-D3E7-4194-BB83-2E474AC6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9B958-9315-4518-8986-3BBD91BA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硬體 HARDWARE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1FB5C-26D4-4469-B4C8-73935E6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03/12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915DF-2A64-4D4B-9D07-D8CD2E60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E9CCE-B353-405C-9C15-170909F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4CCDA2-289B-4ECF-B3C1-F1A159D9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一個電晶體，就是一個超小開關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c332452244320"/>
          <a:srcRect xmlns:a="http://schemas.openxmlformats.org/drawingml/2006/main" l="5445" t="0" r="54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2076450"/>
            <a:ext cx="5429250" cy="3429000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B91EE-7555-4D6A-804F-BA94C07D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1BCEA-4403-4DAB-B579-05BD8F2D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81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7F7F8"/>
                </a:solidFill>
              </a:defRPr>
            </a:pPr>
            <a:r>
              <a:rPr sz="1950" b="0">
                <a:solidFill>
                  <a:srgbClr val="F7F7F8"/>
                </a:solidFill>
              </a:rPr>
              <a:t>關閉狀態＝0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6E081-A9DF-4627-95AE-62520DD7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9C8C52-53B7-4290-B0C8-24C221D5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7F7F8"/>
                </a:solidFill>
              </a:defRPr>
            </a:pPr>
            <a:r>
              <a:rPr sz="1950" b="0">
                <a:solidFill>
                  <a:srgbClr val="F7F7F8"/>
                </a:solidFill>
              </a:rPr>
              <a:t>開啟狀態＝1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DF588D-4B6A-4320-B0DF-DB37EAEC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8D281-D43E-4B60-9AD5-947A3919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05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大量開關合作</a:t>
            </a:r>
          </a:p>
        </p:txBody>
      </p:sp>
      <p:sp>
        <p:nvSpPr>
          <p:cNvPr id="17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10FBC200-3FD1-488D-8671-54CB2749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62500"/>
            <a:ext cx="476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198A2009-66E0-46B4-9E5C-A81E4414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727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一個開關很簡單；幾十億個開關能完成複雜運算。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1a53dd4f84af7"/>
          <a:stretch xmlns:a="http://schemas.openxmlformats.org/drawingml/2006/main"/>
        </p:blipFill>
        <p:spPr>
          <a:xfrm xmlns:a="http://schemas.openxmlformats.org/drawingml/2006/main" flipH="1">
            <a:off x="4905375" y="4257780"/>
            <a:ext cx="1285875" cy="7236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397892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2131FE-C3D6-47E5-934C-D64F8FB4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7CCBD-6520-4C64-A5CF-1ECF8EA0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9AD1D9-3F01-4DCD-AD08-5F217FB1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6151E-5BA9-49A9-994B-575A6AFD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1CD00-FDD3-414D-9263-2AF6FC6D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先學資料單位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271B3-360A-44FC-8BF1-0B63C8D6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04/12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429A2-37BC-4FB9-91CB-A8824B67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56CF1-9181-437B-8E1E-47C82FAB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1C4607-2F50-4DA7-8957-DC01AACB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876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bit 與 byte：一格狀態，八格一組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92B88-3889-4184-B032-9F132266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5048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01B28">
              <a:alpha val="88000"/>
            </a:srgbClr>
          </a:solidFill>
          <a:ln xmlns:a="http://schemas.openxmlformats.org/drawingml/2006/main" w="19050">
            <a:solidFill>
              <a:srgbClr val="46C8FF">
                <a:alpha val="7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33D920-B1F1-4350-8FDD-6045C3B8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46C8FF"/>
                </a:solidFill>
              </a:defRPr>
            </a:pPr>
            <a:r>
              <a:rPr sz="2100" b="1">
                <a:solidFill>
                  <a:srgbClr val="46C8FF"/>
                </a:solidFill>
              </a:rPr>
              <a:t>bit 位元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24B62-C0CB-4E0D-9484-C8543D3C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只能是 0 或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F6A76A-7DFD-4BAE-AC0E-9B8060C6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最小資料單位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E66641-CFCB-47A5-82F4-2DCA133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52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像一格小抽屜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7F9C1-1331-4DCF-94FB-7A109A37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95500"/>
            <a:ext cx="5048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01B28">
              <a:alpha val="88000"/>
            </a:srgbClr>
          </a:solidFill>
          <a:ln xmlns:a="http://schemas.openxmlformats.org/drawingml/2006/main" w="19050">
            <a:solidFill>
              <a:srgbClr val="FFC12F">
                <a:alpha val="7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9F15B-DEDB-431D-8FE5-7239AACC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6220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FC12F"/>
                </a:solidFill>
              </a:defRPr>
            </a:pPr>
            <a:r>
              <a:rPr sz="2100" b="1">
                <a:solidFill>
                  <a:srgbClr val="FFC12F"/>
                </a:solidFill>
              </a:rPr>
              <a:t>byte 位元組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054A10-C911-4F41-9D29-9CB40FBB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8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8 個 bit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EE6B3-1F14-488E-A205-D71A6683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共有 256 種排列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C8859-1D69-44F3-BD49-FAEEDA8C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•  八格綁成一組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691f905de04636"/>
          <a:stretch xmlns:a="http://schemas.openxmlformats.org/drawingml/2006/main"/>
        </p:blipFill>
        <p:spPr>
          <a:xfrm xmlns:a="http://schemas.openxmlformats.org/drawingml/2006/main" flipH="0">
            <a:off x="4857750" y="3922739"/>
            <a:ext cx="2476500" cy="1393772"/>
          </a:xfrm>
          <a:prstGeom xmlns:a="http://schemas.openxmlformats.org/drawingml/2006/main" prst="rect">
            <a:avLst/>
          </a:prstGeom>
        </p:spPr>
      </p:pic>
      <p:sp>
        <p:nvSpPr>
          <p:cNvPr id="21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15809F20-630E-4D95-8A6A-3394D458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72125"/>
            <a:ext cx="67627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640A23B8-FCC5-4D3B-94F9-2AE92313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5676900"/>
            <a:ext cx="6381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位元裝一個狀態；位元組把八個位元綁成一組。</a:t>
            </a:r>
          </a:p>
        </p:txBody>
      </p:sp>
    </p:spTree>
    <p:extLst>
      <p:ext uri="{BB962C8B-B14F-4D97-AF65-F5344CB8AC3E}">
        <p14:creationId xmlns:p14="http://schemas.microsoft.com/office/powerpoint/2010/main" val="1292581948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2C4EA-9262-4207-BC38-48CA2A3A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0213F5-37BD-4B24-977C-FB27B716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78DCB-C568-484B-AA7B-C7EA2D02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3EE57-7A54-4FB8-A0B3-119523D8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6672E-5EA9-4F14-9F54-514E236E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把二進位拿在手上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2C600-0C05-4B1E-9B18-0DDD500C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05/12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49271-D371-4EC5-8732-6593C573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CDFF7D-0392-447C-BABD-5BB1EE43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7b40d1bc14b85"/>
          <a:srcRect xmlns:a="http://schemas.openxmlformats.org/drawingml/2006/main" l="0" t="9188" r="0" b="91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838200"/>
            <a:ext cx="12192000" cy="56007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33D62-85EB-4C52-828A-CA901905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"/>
            <a:ext cx="12192000" cy="56007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41222">
                  <a:alpha val="88000"/>
                </a:srgbClr>
              </a:gs>
              <a:gs pos="48000">
                <a:srgbClr val="041222">
                  <a:alpha val="5000"/>
                </a:srgbClr>
              </a:gs>
              <a:gs pos="100000">
                <a:srgbClr val="041222">
                  <a:alpha val="7000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D7890F-5199-4983-91C8-CF0B9C98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7750"/>
            <a:ext cx="885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五張二進位卡，能數到 31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94B71-7CC4-4FFE-8BA7-F3567059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7F7F8"/>
                </a:solidFill>
              </a:defRPr>
            </a:pPr>
            <a:r>
              <a:rPr sz="1650">
                <a:solidFill>
                  <a:srgbClr val="F7F7F8"/>
                </a:solidFill>
              </a:rPr>
              <a:t>翻開＝1，蓋住＝0；位置價值從左到右減半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BB5547-CB9E-4D1F-9225-E6BB7DC1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90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41222">
              <a:alpha val="8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D2C15-6B84-4EFF-A3F5-B5896F68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7F8"/>
                </a:solidFill>
              </a:defRPr>
            </a:pPr>
            <a:r>
              <a:rPr sz="1275" b="1">
                <a:solidFill>
                  <a:srgbClr val="F7F7F8"/>
                </a:solidFill>
              </a:rPr>
              <a:t>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0F1024-2694-4C71-8208-E18CFB88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62600"/>
            <a:ext cx="190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41222">
              <a:alpha val="8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D24F60-7A33-48A6-A07D-B333B523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769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C12F"/>
                </a:solidFill>
              </a:defRPr>
            </a:pPr>
            <a:r>
              <a:rPr sz="1275" b="1">
                <a:solidFill>
                  <a:srgbClr val="FFC12F"/>
                </a:solidFill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FDBA1E-7700-4D7D-8898-44782196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562600"/>
            <a:ext cx="190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41222">
              <a:alpha val="8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F73510-D5B2-4FDE-966A-3FE167B2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6769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7F8"/>
                </a:solidFill>
              </a:defRPr>
            </a:pPr>
            <a:r>
              <a:rPr sz="1275" b="1">
                <a:solidFill>
                  <a:srgbClr val="F7F7F8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9C77CB-2518-4DB8-92C5-E0CA1448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562600"/>
            <a:ext cx="190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41222">
              <a:alpha val="8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91E31D-968D-42BC-A7D9-6E7AA76C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6769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7F8"/>
                </a:solidFill>
              </a:defRPr>
            </a:pPr>
            <a:r>
              <a:rPr sz="1275" b="1">
                <a:solidFill>
                  <a:srgbClr val="F7F7F8"/>
                </a:solidFill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8FE7E-2F95-4D6F-9F38-A9EEC50F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562600"/>
            <a:ext cx="190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41222">
              <a:alpha val="8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252D72-60E7-49A6-A0DC-2D273FC8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769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7F7F8"/>
                </a:solidFill>
              </a:defRPr>
            </a:pPr>
            <a:r>
              <a:rPr sz="1275" b="1">
                <a:solidFill>
                  <a:srgbClr val="F7F7F8"/>
                </a:solidFill>
              </a:rPr>
              <a:t>1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a96f5d391640db"/>
          <a:stretch xmlns:a="http://schemas.openxmlformats.org/drawingml/2006/main"/>
        </p:blipFill>
        <p:spPr>
          <a:xfrm xmlns:a="http://schemas.openxmlformats.org/drawingml/2006/main" flipH="1">
            <a:off x="9477375" y="3181561"/>
            <a:ext cx="2571750" cy="14473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308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1E22F5-BBF2-4307-A98C-C7922FE1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19685-2BD2-4797-B7C4-AE9AA7D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D9C074-DE94-46A2-8C53-812365F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32FB9-A002-40D6-A606-2B026530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3F885-89A3-4AEF-9290-62743126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做一次轉換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125697-CF4D-4B41-A72B-28697F49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06/12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A1D42-4203-4050-8934-06B23D82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29C42-CB12-4D4A-B895-B6C4AE12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4D63D3-C9F5-4576-9A0C-79B466F3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十三，等於八加四加一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20B1E-6163-46CF-8328-AB9D4FA2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9527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6C8FF"/>
                </a:solidFill>
              </a:defRPr>
            </a:pPr>
            <a:r>
              <a:rPr sz="3600" b="1">
                <a:solidFill>
                  <a:srgbClr val="46C8FF"/>
                </a:solidFill>
              </a:rPr>
              <a:t>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9A496-CED0-439B-8E23-2169B301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9050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85BCF-5866-44A9-BAB3-32563046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C8FF"/>
                </a:solidFill>
              </a:defRPr>
            </a:pPr>
            <a:r>
              <a:rPr sz="1200" b="1">
                <a:solidFill>
                  <a:srgbClr val="46C8FF"/>
                </a:solidFill>
              </a:rPr>
              <a:t>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63237-360E-454E-A5DB-40285E6B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125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16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F0C7EE-8DE4-41CA-A9E9-11CAF964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71875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6C8FF"/>
                </a:solidFill>
              </a:defRPr>
            </a:pPr>
            <a:r>
              <a:rPr sz="3600" b="1">
                <a:solidFill>
                  <a:srgbClr val="46C8FF"/>
                </a:solidFill>
              </a:rPr>
              <a:t>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21232-B3C9-4540-9FD1-0633378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76237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9050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466C5-E7D2-4CB8-B009-CD932574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886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C8FF"/>
                </a:solidFill>
              </a:defRPr>
            </a:pPr>
            <a:r>
              <a:rPr sz="1200" b="1">
                <a:solidFill>
                  <a:srgbClr val="46C8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8AA99-7BBF-4135-9633-49C2E33D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171950"/>
            <a:ext cx="125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BC49E1-CCAC-4D40-AA11-8485AD72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952750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6C8FF"/>
                </a:solidFill>
              </a:defRPr>
            </a:pPr>
            <a:r>
              <a:rPr sz="3600" b="1">
                <a:solidFill>
                  <a:srgbClr val="46C8FF"/>
                </a:solidFill>
              </a:rPr>
              <a:t>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FCD224-6B4B-460B-AA8F-991C2BA4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C12F">
              <a:alpha val="17000"/>
            </a:srgbClr>
          </a:solidFill>
          <a:ln xmlns:a="http://schemas.openxmlformats.org/drawingml/2006/main" w="19050">
            <a:solidFill>
              <a:srgbClr val="FFC12F">
                <a:alpha val="75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70B98-8B94-4D67-B6EF-4E3CE250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527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150CB-8AFC-4923-8628-3BCCA6D2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38450"/>
            <a:ext cx="125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64B1E-E515-454C-9D37-0AF04F4E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71875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6C8FF"/>
                </a:solidFill>
              </a:defRPr>
            </a:pPr>
            <a:r>
              <a:rPr sz="3600" b="1">
                <a:solidFill>
                  <a:srgbClr val="46C8FF"/>
                </a:solidFill>
              </a:rPr>
              <a:t>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1FD232-FC37-40D4-B6C9-DADA8028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76237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9050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685264-2D0C-47E6-8D7B-E72EB370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8862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C8FF"/>
                </a:solidFill>
              </a:defRPr>
            </a:pPr>
            <a:r>
              <a:rPr sz="1200" b="1">
                <a:solidFill>
                  <a:srgbClr val="46C8FF"/>
                </a:solidFill>
              </a:rPr>
              <a:t>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671BCD-7BD6-4EED-A891-61207895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171950"/>
            <a:ext cx="125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D40F3B-91AC-4FF2-97E4-04C124F2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28875"/>
            <a:ext cx="1714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9050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FA57B2-0336-433A-9E26-3242B045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527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46C8FF"/>
                </a:solidFill>
              </a:defRPr>
            </a:pPr>
            <a:r>
              <a:rPr sz="1200" b="1">
                <a:solidFill>
                  <a:srgbClr val="46C8FF"/>
                </a:solidFill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EB426A-CC59-44BC-9569-E34EA62C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38450"/>
            <a:ext cx="125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1</a:t>
            </a:r>
          </a:p>
        </p:txBody>
      </p:sp>
      <p:sp>
        <p:nvSpPr>
          <p:cNvPr id="29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47ACA57D-685E-4041-9BF8-AE4757D1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381625"/>
            <a:ext cx="7715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6B9B268B-C1C8-4BD1-AF99-16C42610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486400"/>
            <a:ext cx="733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13＝8＋4＋1，所以答案是 01101。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2707241f74d8e"/>
          <a:stretch xmlns:a="http://schemas.openxmlformats.org/drawingml/2006/main"/>
        </p:blipFill>
        <p:spPr>
          <a:xfrm xmlns:a="http://schemas.openxmlformats.org/drawingml/2006/main" flipH="0">
            <a:off x="9810750" y="4343944"/>
            <a:ext cx="2333625" cy="131336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4993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55A4F4-C151-4373-9C8B-2067E690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74618-DD5A-41A2-BBF9-066CFD20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3D94A-9588-4945-9774-7D541576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8B4CE-0F12-407E-BD97-6C0632BF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40665-A743-44DD-BFBB-E58CC8C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把位元組合起來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13100-5113-4258-9E45-8517F45E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07/12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5777D-CD50-4B2C-BFE2-4D6A2387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5104E-6063-4C08-88DB-8C82F0AF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0A224F-C68C-4810-81E2-C28A7BCA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876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八個位元，裝出 256 種組合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367C0-1D3C-407A-9171-C225DD85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A8B8C9"/>
                </a:solidFill>
              </a:defRPr>
            </a:pPr>
            <a:r>
              <a:rPr sz="1650">
                <a:solidFill>
                  <a:srgbClr val="A8B8C9"/>
                </a:solidFill>
              </a:rPr>
              <a:t>00000000 到 11111111，對應 0 到 255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ED610-B8F8-4747-B793-5B095A9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57A7E-1A86-4FED-BD66-AFBB1E39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byte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ABB4-106B-4FC4-BC0D-2C940C23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315D9-798A-4D00-822F-DEFBA094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68C0E-8421-453E-82A1-534D9364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KB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BBABF-B67E-4D6E-B517-C0FE9670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4771E-DDF2-40C0-987C-07FB4684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C12F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67F29-2DB1-4822-A959-475D2B23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C12F"/>
                </a:solidFill>
              </a:defRPr>
            </a:pPr>
            <a:r>
              <a:rPr sz="1950" b="1">
                <a:solidFill>
                  <a:srgbClr val="FFC12F"/>
                </a:solidFill>
              </a:rPr>
              <a:t>MB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F7074-F7EF-4A98-AB78-F951DEF9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653C1-D66D-4366-A7CA-FA0A8054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6A9BD-BE88-49CB-A0F3-D710B437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GB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085C9-0AB1-483F-980C-2EE86EC2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AD0C2D-8804-4EBB-94CD-2A91AF78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53F2A5-0616-450E-8BFD-3682A395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TB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922808-89BC-4A91-8A76-16CD27F9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8639175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982C4">
              <a:alpha val="10000"/>
            </a:srgbClr>
          </a:solidFill>
          <a:ln xmlns:a="http://schemas.openxmlformats.org/drawingml/2006/main" w="9525">
            <a:solidFill>
              <a:srgbClr val="1982C4">
                <a:alpha val="45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093E7-4FA3-438B-B222-D4F2D19C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F7F7F8"/>
                </a:solidFill>
              </a:defRPr>
            </a:pPr>
            <a:r>
              <a:rPr sz="1800">
                <a:solidFill>
                  <a:srgbClr val="F7F7F8"/>
                </a:solidFill>
              </a:rPr>
              <a:t>檔案越大，只是需要更多位元組接力。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d73fa62334db4"/>
          <a:stretch xmlns:a="http://schemas.openxmlformats.org/drawingml/2006/main"/>
        </p:blipFill>
        <p:spPr>
          <a:xfrm xmlns:a="http://schemas.openxmlformats.org/drawingml/2006/main" flipH="0">
            <a:off x="9239250" y="3145785"/>
            <a:ext cx="2952750" cy="16618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934532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CE924D-39DB-44C1-8E9E-59E37DF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4CB9C-9D21-4CBA-A5E6-710CB233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C0CE9-7E8B-4694-A74C-73293F16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C3909-6C37-4041-BD45-B902CE22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25A45-F77B-4F18-AFA5-CE765AD9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編碼 ENCODE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4AAFB-1DC5-4835-8431-960CA184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08/12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D01D9-E6CF-40A9-BC8C-AD4961EB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4DDDF-16B6-4F53-84E8-45F194AC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058E59-E2D4-4F25-AA1C-6AC20C9D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文字先變成編號，再變成位元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eb09a90ba04cf4"/>
          <a:srcRect xmlns:a="http://schemas.openxmlformats.org/drawingml/2006/main" l="5445" t="0" r="54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52450" y="2076450"/>
            <a:ext cx="5429250" cy="3429000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9BD16-F557-4D00-8184-E7097FE6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3E9D9-E6EA-492D-8138-5EB3CCC3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81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7F7F8"/>
                </a:solidFill>
              </a:defRPr>
            </a:pPr>
            <a:r>
              <a:rPr sz="1950" b="0">
                <a:solidFill>
                  <a:srgbClr val="F7F7F8"/>
                </a:solidFill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AD2C1-D415-45DE-9E57-F6710174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14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A4222-FB84-4624-ACFA-4AAF9935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F7F7F8"/>
                </a:solidFill>
              </a:defRPr>
            </a:pPr>
            <a:r>
              <a:rPr sz="1950" b="0">
                <a:solidFill>
                  <a:srgbClr val="F7F7F8"/>
                </a:solidFill>
              </a:rPr>
              <a:t>65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AAF59-3782-4520-B77E-411A9377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E36CB-FD24-475D-9E82-69F6DDD7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0525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01000001</a:t>
            </a:r>
          </a:p>
        </p:txBody>
      </p:sp>
      <p:sp>
        <p:nvSpPr>
          <p:cNvPr id="17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52A665A1-726D-404C-811A-3975C83A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62500"/>
            <a:ext cx="476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C76F795F-E7DE-4AE4-A324-FBA16E23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727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Unicode 讓不同語言共享穩定的編碼規則。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9ac5d84e54129"/>
          <a:stretch xmlns:a="http://schemas.openxmlformats.org/drawingml/2006/main"/>
        </p:blipFill>
        <p:spPr>
          <a:xfrm xmlns:a="http://schemas.openxmlformats.org/drawingml/2006/main" flipH="0">
            <a:off x="4905375" y="4257780"/>
            <a:ext cx="1285875" cy="72368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08419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131C3-5C8E-427C-B884-30DC2E89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2E7810-304F-47CB-8554-73916E62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3B7C9-5743-4BE0-A35D-D408EDFF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27F87-E863-4501-984F-D73D6200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7470A-ECFF-4EC5-B177-8D8BD18C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圖片 IMAGE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88ACE-6C8B-4CC4-B3E2-AB0059DC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09/12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F2352-82C8-4FB1-A074-C35BE117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15EC5-C25F-4288-B266-6A20A1FD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C1B00B-DCFC-475F-B1FD-3416BB5D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圖片，是一格一格的顏色資料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d837cbdd947ed"/>
          <a:srcRect xmlns:a="http://schemas.openxmlformats.org/drawingml/2006/main" l="0" t="903" r="0" b="9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33400" y="2000250"/>
            <a:ext cx="7239000" cy="4000500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6836E-873F-4EF9-B0C1-9DE6809D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048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F8CD2-EB6C-4AA0-AF7A-CCC9C050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050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7F7F8"/>
                </a:solidFill>
              </a:defRPr>
            </a:pPr>
            <a:r>
              <a:rPr sz="1725" b="1">
                <a:solidFill>
                  <a:srgbClr val="F7F7F8"/>
                </a:solidFill>
              </a:rPr>
              <a:t>圖片 → 像素格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601D8-30EC-456F-9197-91845F29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6100"/>
            <a:ext cx="3048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C12F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079AF-FFF1-4B17-8F8C-65C77340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C12F"/>
                </a:solidFill>
              </a:defRPr>
            </a:pPr>
            <a:r>
              <a:rPr sz="1725" b="1">
                <a:solidFill>
                  <a:srgbClr val="FFC12F"/>
                </a:solidFill>
              </a:rPr>
              <a:t>像素 → 顏色數值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B6478-46CC-45CB-BEA9-EAC6B3D5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048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A0071-2638-4F33-BDD7-A9292DE2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957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7F7F8"/>
                </a:solidFill>
              </a:defRPr>
            </a:pPr>
            <a:r>
              <a:rPr sz="1725" b="1">
                <a:solidFill>
                  <a:srgbClr val="F7F7F8"/>
                </a:solidFill>
              </a:rPr>
              <a:t>顏色數值 → 位元</a:t>
            </a:r>
          </a:p>
        </p:txBody>
      </p:sp>
      <p:sp>
        <p:nvSpPr>
          <p:cNvPr id="17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BC2EC89B-C9E6-461E-9416-FB5CA250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48300"/>
            <a:ext cx="3667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636E2A39-3CA4-4355-8C90-737EEB53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553075"/>
            <a:ext cx="3286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像素越多、顏色越細，通常需要的資料越多。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4545131b1f4388"/>
          <a:stretch xmlns:a="http://schemas.openxmlformats.org/drawingml/2006/main"/>
        </p:blipFill>
        <p:spPr>
          <a:xfrm xmlns:a="http://schemas.openxmlformats.org/drawingml/2006/main" flipH="1">
            <a:off x="10001250" y="4187781"/>
            <a:ext cx="1619250" cy="91131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362904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31C0F-EFE5-4B89-B151-70B6DACE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F479F-C4D3-45D5-95AA-DDE72093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3803DB-EC7D-4ED7-AB3F-6165AFF0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800B2-A8F0-4ADA-A91E-20B5DC57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736AF-7ED4-4974-855C-007CA1D2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聲音 SOUND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6C863-F4BE-4D67-8DDA-674CE437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10/12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DBB9E-83EA-465D-BE92-C15EE409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3EBBC-362A-4CCE-B7E4-A553D776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96D640-359B-4726-99EE-4E5784F0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519112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手機只是把</a:t>
            </a:r>
          </a:p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同一套架構縮小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8ef71d525462f"/>
          <a:srcRect xmlns:a="http://schemas.openxmlformats.org/drawingml/2006/main" l="16513" t="0" r="165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00750" y="1238250"/>
            <a:ext cx="5667375" cy="4762500"/>
          </a:xfrm>
          <a:prstGeom xmlns:a="http://schemas.openxmlformats.org/drawingml/2006/main" prst="round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1F006-7097-4F68-8C93-6E96162C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FFCD5-FCE9-43F2-A04C-A26E941F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812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7F7F8"/>
                </a:solidFill>
              </a:defRPr>
            </a:pPr>
            <a:r>
              <a:rPr sz="2025" b="1">
                <a:solidFill>
                  <a:srgbClr val="F7F7F8"/>
                </a:solidFill>
              </a:rPr>
              <a:t>固定間隔取樣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6BCAD-3C82-4DF2-8C90-3CBE1ECF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0819D-A987-4677-8E26-5AC9D6E3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7F7F8"/>
                </a:solidFill>
              </a:defRPr>
            </a:pPr>
            <a:r>
              <a:rPr sz="2025" b="1">
                <a:solidFill>
                  <a:srgbClr val="F7F7F8"/>
                </a:solidFill>
              </a:rPr>
              <a:t>每次記下波形高度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30C9F2-6EDF-460A-B754-03CCE829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5A3151-240C-4D23-AB57-FAB28608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7F7F8"/>
                </a:solidFill>
              </a:defRPr>
            </a:pPr>
            <a:r>
              <a:rPr sz="2025" b="1">
                <a:solidFill>
                  <a:srgbClr val="F7F7F8"/>
                </a:solidFill>
              </a:rPr>
              <a:t>數值再轉成位元</a:t>
            </a:r>
          </a:p>
        </p:txBody>
      </p:sp>
      <p:sp>
        <p:nvSpPr>
          <p:cNvPr id="17" name="takeaway-frame">
            <a:extLst xmlns:a="http://schemas.openxmlformats.org/drawingml/2006/main">
              <a:ext uri="{FF2B5EF4-FFF2-40B4-BE49-F238E27FC236}">
                <a16:creationId xmlns:a16="http://schemas.microsoft.com/office/drawing/2014/main" id="{A7531BF4-8E9E-4BB0-87E8-C8EA3CEE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91125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C12F">
              <a:alpha val="14000"/>
            </a:srgbClr>
          </a:solidFill>
          <a:ln xmlns:a="http://schemas.openxmlformats.org/drawingml/2006/main" w="19050">
            <a:solidFill>
              <a:srgbClr val="FFC12F">
                <a:alpha val="65000"/>
              </a:srgbClr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4453BD44-707C-456F-812A-E4CD8D4A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959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量得越密、記得越細，通常越接近原來的聲音。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cace52f4f4e6b"/>
          <a:stretch xmlns:a="http://schemas.openxmlformats.org/drawingml/2006/main"/>
        </p:blipFill>
        <p:spPr>
          <a:xfrm xmlns:a="http://schemas.openxmlformats.org/drawingml/2006/main" flipH="1">
            <a:off x="4191000" y="4340953"/>
            <a:ext cx="2428875" cy="13669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841735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55A4F4-C151-4373-9C8B-2067E690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74618-DD5A-41A2-BBF9-066CFD20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3D94A-9588-4945-9774-7D541576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8B4CE-0F12-407E-BD97-6C0632BF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40665-A743-44DD-BFBB-E58CC8C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把所有線索串起來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13100-5113-4258-9E45-8517F45E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11/12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5777D-CD50-4B2C-BFE2-4D6A2387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5104E-6063-4C08-88DB-8C82F0AF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0A224F-C68C-4810-81E2-C28A7BCA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876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7F7F8"/>
                </a:solidFill>
              </a:defRPr>
            </a:pPr>
            <a:r>
              <a:rPr sz="3600" b="1">
                <a:solidFill>
                  <a:srgbClr val="F7F7F8"/>
                </a:solidFill>
              </a:rPr>
              <a:t>不同內容，共用同一套底層語言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367C0-1D3C-407A-9171-C225DD85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A8B8C9"/>
                </a:solidFill>
              </a:defRPr>
            </a:pPr>
            <a:r>
              <a:rPr sz="1650">
                <a:solidFill>
                  <a:srgbClr val="A8B8C9"/>
                </a:solidFill>
              </a:rPr>
              <a:t>數字、文字、圖片與聲音，都走同一條路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ED610-B8F8-4747-B793-5B095A9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57A7E-1A86-4FED-BD66-AFBB1E39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內容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ABB4-106B-4FC4-BC0D-2C940C23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315D9-798A-4D00-822F-DEFBA094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68C0E-8421-453E-82A1-534D9364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數值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BBABF-B67E-4D6E-B517-C0FE9670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4771E-DDF2-40C0-987C-07FB4684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C12F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67F29-2DB1-4822-A959-475D2B23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C12F"/>
                </a:solidFill>
              </a:defRPr>
            </a:pPr>
            <a:r>
              <a:rPr sz="1950" b="1">
                <a:solidFill>
                  <a:srgbClr val="FFC12F"/>
                </a:solidFill>
              </a:rPr>
              <a:t>位元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F7074-F7EF-4A98-AB78-F951DEF9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9653C1-D66D-4366-A7CA-FA0A8054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6A9BD-BE88-49CB-A0F3-D710B4370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開關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085C9-0AB1-483F-980C-2EE86EC2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81350"/>
            <a:ext cx="400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6C8FF"/>
                </a:solidFill>
              </a:defRPr>
            </a:pPr>
            <a:r>
              <a:rPr sz="2850" b="1">
                <a:solidFill>
                  <a:srgbClr val="46C8FF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AD0C2D-8804-4EBB-94CD-2A91AF78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13811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982C4">
              <a:alpha val="20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53F2A5-0616-450E-8BFD-3682A395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62300"/>
            <a:ext cx="119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7F7F8"/>
                </a:solidFill>
              </a:defRPr>
            </a:pPr>
            <a:r>
              <a:rPr sz="1950" b="1">
                <a:solidFill>
                  <a:srgbClr val="F7F7F8"/>
                </a:solidFill>
              </a:rPr>
              <a:t>體驗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922808-89BC-4A91-8A76-16CD27F9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8639175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982C4">
              <a:alpha val="10000"/>
            </a:srgbClr>
          </a:solidFill>
          <a:ln xmlns:a="http://schemas.openxmlformats.org/drawingml/2006/main" w="9525">
            <a:solidFill>
              <a:srgbClr val="1982C4">
                <a:alpha val="45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093E7-4FA3-438B-B222-D4F2D19C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F7F7F8"/>
                </a:solidFill>
              </a:defRPr>
            </a:pPr>
            <a:r>
              <a:rPr sz="1800">
                <a:solidFill>
                  <a:srgbClr val="F7F7F8"/>
                </a:solidFill>
              </a:rPr>
              <a:t>零和一不是限制，而是所有數位內容的共同語言。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20f263a4d469e"/>
          <a:stretch xmlns:a="http://schemas.openxmlformats.org/drawingml/2006/main"/>
        </p:blipFill>
        <p:spPr>
          <a:xfrm xmlns:a="http://schemas.openxmlformats.org/drawingml/2006/main" flipH="0">
            <a:off x="9239250" y="3145785"/>
            <a:ext cx="2952750" cy="16618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934532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41222"/>
            </a:gs>
            <a:gs pos="62000">
              <a:srgbClr val="071F37"/>
            </a:gs>
            <a:gs pos="100000">
              <a:srgbClr val="041222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C531E2-8ECC-4486-B74B-8CCCFE76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1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37F80-0D82-4E4B-8F7A-6C6A0BB5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82C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BAFED9-DE09-4B43-9626-ECBCC5F6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1000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7F8"/>
                </a:solidFill>
              </a:defRPr>
            </a:pPr>
            <a:r>
              <a:rPr sz="1875" b="1">
                <a:solidFill>
                  <a:srgbClr val="F7F7F8"/>
                </a:solidFill>
              </a:rPr>
              <a:t>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351801-2D12-4F4A-8786-52B695A9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857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C12F"/>
                </a:solidFill>
              </a:defRPr>
            </a:pPr>
            <a:r>
              <a:rPr sz="1875" b="1">
                <a:solidFill>
                  <a:srgbClr val="FFC12F"/>
                </a:solidFill>
              </a:rPr>
              <a:t>XiNew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682AF-0E86-43A6-BFF6-369C6661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2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A8B8C9"/>
                </a:solidFill>
              </a:defRPr>
            </a:pPr>
            <a:r>
              <a:rPr sz="1125" b="1">
                <a:solidFill>
                  <a:srgbClr val="A8B8C9"/>
                </a:solidFill>
              </a:rPr>
              <a:t>一題確認你真的懂了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AAEA4-A1DA-4695-BC86-33B5043A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38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FC12F"/>
                </a:solidFill>
              </a:defRPr>
            </a:pPr>
            <a:r>
              <a:rPr sz="1200" b="1">
                <a:solidFill>
                  <a:srgbClr val="FFC12F"/>
                </a:solidFill>
              </a:rPr>
              <a:t>EP02 · 12/12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AC913-F997-4A78-9D03-92CA295D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389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A8B8C9"/>
                </a:solidFill>
              </a:defRPr>
            </a:pPr>
            <a:r>
              <a:rPr sz="975">
                <a:solidFill>
                  <a:srgbClr val="A8B8C9"/>
                </a:solidFill>
              </a:rPr>
              <a:t>為什麼電腦只懂 0 和 1？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C5A811-8E92-40F4-988E-CDE4505A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389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C12F"/>
                </a:solidFill>
              </a:defRPr>
            </a:pPr>
            <a:r>
              <a:rPr sz="975" b="1">
                <a:solidFill>
                  <a:srgbClr val="FFC12F"/>
                </a:solidFill>
              </a:rPr>
              <a:t>XINEW SAYS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77D4B1-1622-46A4-99A5-79BF56FC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7F7F8"/>
                </a:solidFill>
              </a:defRPr>
            </a:pPr>
            <a:r>
              <a:rPr sz="3450" b="1">
                <a:solidFill>
                  <a:srgbClr val="F7F7F8"/>
                </a:solidFill>
              </a:rPr>
              <a:t>十三的五位元二進位，是什麼？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65FA24-F09E-4763-9400-FF5F2AF0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6675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101B28">
              <a:alpha val="92000"/>
            </a:srgbClr>
          </a:solidFill>
          <a:ln xmlns:a="http://schemas.openxmlformats.org/drawingml/2006/main" w="19050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82025-F9D0-4932-AFF3-2B076F34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A8B8C9"/>
                </a:solidFill>
              </a:defRPr>
            </a:pPr>
            <a:r>
              <a:rPr sz="1350" b="1">
                <a:solidFill>
                  <a:srgbClr val="A8B8C9"/>
                </a:solidFill>
              </a:rPr>
              <a:t>答案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6AAFE-93C2-443B-8524-117FBCC6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C12F"/>
                </a:solidFill>
              </a:defRPr>
            </a:pPr>
            <a:r>
              <a:rPr sz="3600" b="1">
                <a:solidFill>
                  <a:srgbClr val="FFC12F"/>
                </a:solidFill>
              </a:rPr>
              <a:t>01101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639F2-FAB8-40A4-9CAF-6FF95963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71875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F7F7F8"/>
                </a:solidFill>
              </a:defRPr>
            </a:pPr>
            <a:r>
              <a:rPr sz="1725">
                <a:solidFill>
                  <a:srgbClr val="F7F7F8"/>
                </a:solidFill>
              </a:rPr>
              <a:t>因為十三等於八加四加一。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D000B-DD6B-4DAA-A082-814A2D77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7A555C-96A2-4FA6-9173-35EB6A0A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開關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A8885-1D22-47B2-9AF7-D27F6D62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5720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3DDEA-9833-4E50-A403-62A3F63F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686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位元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FB8EC-DFD8-4DF9-A8D6-A86D7D83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5720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C12F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472AD-7C05-43C7-9AF6-5C7C43DA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86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C12F"/>
                </a:solidFill>
              </a:defRPr>
            </a:pPr>
            <a:r>
              <a:rPr sz="1500" b="1">
                <a:solidFill>
                  <a:srgbClr val="FFC12F"/>
                </a:solidFill>
              </a:rPr>
              <a:t>編碼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15E484-3975-4832-B2F4-BBBC3402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720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05BE19-0DBD-4350-BAD1-D25745D2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686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像素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77C35-0281-4DB8-A6A8-DE91A87A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720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982C4">
              <a:alpha val="18000"/>
            </a:srgbClr>
          </a:solidFill>
          <a:ln xmlns:a="http://schemas.openxmlformats.org/drawingml/2006/main" w="14288">
            <a:solidFill>
              <a:srgbClr val="1982C4">
                <a:alpha val="65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78C1-AD6E-4561-BAEA-2F03D35A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86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7F7F8"/>
                </a:solidFill>
              </a:defRPr>
            </a:pPr>
            <a:r>
              <a:rPr sz="1500" b="1">
                <a:solidFill>
                  <a:srgbClr val="F7F7F8"/>
                </a:solidFill>
              </a:rPr>
              <a:t>取樣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E280F-B0DD-454F-BF5B-3F91BC95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7334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46C8FF"/>
                </a:solidFill>
              </a:defRPr>
            </a:pPr>
            <a:r>
              <a:rPr sz="1875" b="1">
                <a:solidFill>
                  <a:srgbClr val="46C8FF"/>
                </a:solidFill>
              </a:rPr>
              <a:t>下一集：沒有作業系統的一天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24519d4044813"/>
          <a:stretch xmlns:a="http://schemas.openxmlformats.org/drawingml/2006/main"/>
        </p:blipFill>
        <p:spPr>
          <a:xfrm xmlns:a="http://schemas.openxmlformats.org/drawingml/2006/main" flipH="0">
            <a:off x="7524750" y="2645495"/>
            <a:ext cx="4476750" cy="251951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12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2026-07-26T22:59:09.9380000Z</dcterms:created>
  <dcterms:modified xsi:type="dcterms:W3CDTF">2026-07-26T22:59:09.9380000Z</dcterms:modified>
</coreProperties>
</file>