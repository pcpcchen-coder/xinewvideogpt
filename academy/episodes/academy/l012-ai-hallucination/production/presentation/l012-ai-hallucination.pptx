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歡迎回到父子科技學院，我是陳犀牛，今天是第十二堂，幻覺抓錯賽，這是依課表製作的課前教學版，並非實際上課錄音。</ns0:t>
            </ns0:r>
          </ns0:p>
          <ns1:p xmlns:ns1="http://schemas.openxmlformats.org/drawingml/2006/main">
            <ns1:r>
              <ns1:t>生成式 AI，有時候會把錯的事情說得跟真的一樣，這種情形常被叫做幻覺。</ns1:t>
            </ns1:r>
          </ns1:p>
          <ns2:p xmlns:ns2="http://schemas.openxmlformats.org/drawingml/2006/main">
            <ns2:r>
              <ns2:t>今天你要當偵探，從回答裡找出需要查證的地方，最後完成一張回答查核表。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  <ns5:p xmlns:ns5="http://schemas.openxmlformats.org/drawingml/2006/main">
            <ns5:r>
              <ns5:t>https://nvlpubs.nist.gov/nistpubs/ai/NIST.AI.600-1.pdf</ns5:t>
            </ns5:r>
          </ns5:p>
          <ns6:p xmlns:ns6="http://schemas.openxmlformats.org/drawingml/2006/main">
            <ns6:r>
              <ns6:t>https://support.google.com/gemini/answer/16279220?hl=zh-Hant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抓錯有三個步驟。第一步是標記，把回答裡的名稱、數字、日期和引用圈起來。</ns0:t>
            </ns0:r>
          </ns0:p>
          <ns1:p xmlns:ns1="http://schemas.openxmlformats.org/drawingml/2006/main">
            <ns1:r>
              <ns1:t>第二步是查證，到可靠的來源去找，看看它說得對不對。</ns1:t>
            </ns1:r>
          </ns1:p>
          <ns2:p xmlns:ns2="http://schemas.openxmlformats.org/drawingml/2006/main">
            <ns2:r>
              <ns2:t>第三步是判定，寫下結果：正確、錯誤，或是查不到；查不到的，就不能當成真的。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  <ns5:p xmlns:ns5="http://schemas.openxmlformats.org/drawingml/2006/main">
            <ns5:r>
              <ns5:t>https://jr.hs.ntnu.edu.tw/wp-content/uploads/2026/02/中小學使用「生成式人工智慧」注意事項2.1.pdf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有時候，回答讀起來很通順、很有把握，內容卻是錯的，甚至是編出來的；這種情形，大家叫它幻覺。</ns0:t>
            </ns0:r>
          </ns0:p>
          <ns1:p xmlns:ns1="http://schemas.openxmlformats.org/drawingml/2006/main">
            <ns1:r>
              <ns1:t>會這樣，是因為它的做法是預測接下來最可能出現的字，目標是寫得通順，而不是確認真假。</ns1:t>
            </ns1:r>
          </ns1:p>
          <ns2:p xmlns:ns2="http://schemas.openxmlformats.org/drawingml/2006/main">
            <ns2:r>
              <ns2:t>就算回答後面附了來源連結，也還是可能出錯，所以一樣要查。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https://nvlpubs.nist.gov/nistpubs/ai/NIST.AI.600-1.pdf</ns4:t>
            </ns4:r>
          </ns4:p>
          <ns5:p xmlns:ns5="http://schemas.openxmlformats.org/drawingml/2006/main">
            <ns5:r>
              <ns5:t>https://www.ibm.com/think/topics/ai-hallucinations</ns5:t>
            </ns5:r>
          </ns5:p>
          <ns6:p xmlns:ns6="http://schemas.openxmlformats.org/drawingml/2006/main">
            <ns6:r>
              <ns6:t>https://mitsloanedtech.mit.edu/ai/basics/addressing-ai-hallucinations-and-bias/</ns6:t>
            </ns6:r>
          </ns6:p>
          <ns7:p xmlns:ns7="http://schemas.openxmlformats.org/drawingml/2006/main">
            <ns7:r>
              <ns7:t>https://help.openai.com/en/articles/9237897-chatgpt-search</ns7:t>
            </ns7:r>
          </ns7:p>
          <ns8:p xmlns:ns8="http://schemas.openxmlformats.org/drawingml/2006/main">
            <ns8:r>
              <ns8:t>https://support.google.com/websearch/answer/14901683?hl=zh-Hant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回答裡有四種東西最需要查。第一種是名稱，像是人名、地名和書名；第二種是數字，例如多高、多少隻。</ns0:t>
            </ns0:r>
          </ns0:p>
          <ns1:p xmlns:ns1="http://schemas.openxmlformats.org/drawingml/2006/main">
            <ns1:r>
              <ns1:t>第三種是日期，哪一年、哪一天；第四種是引用，也就是它說資料來自哪一本書、哪一個網站。</ns1:t>
            </ns1:r>
          </ns1:p>
          <ns2:p xmlns:ns2="http://schemas.openxmlformats.org/drawingml/2006/main">
            <ns2:r>
              <ns2:t>還有第五種要留意：說得太肯定的話，例如一定、剛好、所有；真實世界的數字，常常只是估計。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  <ns5:p xmlns:ns5="http://schemas.openxmlformats.org/drawingml/2006/main">
            <ns5:r>
              <ns5:t>https://help.openai.com/en/articles/8313428-does-chatgpt-tell-the-truth</ns5:t>
            </ns5:r>
          </ns5:p>
          <ns6:p xmlns:ns6="http://schemas.openxmlformats.org/drawingml/2006/main">
            <ns6:r>
              <ns6:t>https://www.ibm.com/think/topics/ai-hallucinations</ns6:t>
            </ns6:r>
          </ns6:p>
          <ns7:p xmlns:ns7="http://schemas.openxmlformats.org/drawingml/2006/main">
            <ns7:r>
              <ns7:t>https://eliteracy.edu.tw/Download.ashx?id=1817</ns7:t>
            </ns7:r>
          </ns7:p>
          <ns8:p xmlns:ns8="http://schemas.openxmlformats.org/drawingml/2006/main">
            <ns8:r>
              <ns8:t>https://www.ysnp.gov.tw/StaticPage/Science</ns8:t>
            </ns8:r>
          </ns8:p>
          <ns9:p xmlns:ns9="http://schemas.openxmlformats.org/drawingml/2006/main">
            <ns9:r>
              <ns9:t>https://www.forest.gov.tw/MagazineFile/6855</ns9:t>
            </ns9:r>
          </ns9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引用特別要小心，因為連書名、網址和案例，都可能是編出來的。</ns0:t>
            </ns0:r>
          </ns0:p>
          <ns1:p xmlns:ns1="http://schemas.openxmlformats.org/drawingml/2006/main">
            <ns1:r>
              <ns1:t>二零二三年，美國有兩位律師請聊天機器人找判決，它編出了六個根本不存在的案例；律師交給法院之後，和事務所一起被罰了五千美元。</ns1:t>
            </ns1:r>
          </ns1:p>
          <ns2:p xmlns:ns2="http://schemas.openxmlformats.org/drawingml/2006/main">
            <ns2:r>
              <ns2:t>所以看到引用，要自己去確認兩件事：它真的存在嗎？裡面真的這樣寫嗎？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https://nvlpubs.nist.gov/nistpubs/ai/NIST.AI.600-1.pdf</ns4:t>
            </ns4:r>
          </ns4:p>
          <ns5:p xmlns:ns5="http://schemas.openxmlformats.org/drawingml/2006/main">
            <ns5:r>
              <ns5:t>https://www.ibm.com/think/topics/ai-hallucinations</ns5:t>
            </ns5:r>
          </ns5:p>
          <ns6:p xmlns:ns6="http://schemas.openxmlformats.org/drawingml/2006/main">
            <ns6:r>
              <ns6:t>https://storage.courtlistener.com/recap/gov.uscourts.nysd.575368/gov.uscourts.nysd.575368.54.0_3.pdf</ns6:t>
            </ns6:r>
          </ns6:p>
          <ns7:p xmlns:ns7="http://schemas.openxmlformats.org/drawingml/2006/main">
            <ns7:r>
              <ns7:t>https://help.openai.com/en/articles/9237897-chatgpt-search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怎麼查呢？第一，找原始的來源，例如官方網站，或是它說的那本書。</ns0:t>
            </ns0:r>
          </ns0:p>
          <ns1:p xmlns:ns1="http://schemas.openxmlformats.org/drawingml/2006/main">
            <ns1:r>
              <ns1:t>第二，再找第二個可靠的來源，看看兩邊說的一不一樣；重要的事，多查一個地方比較保險。</ns1:t>
            </ns1:r>
          </ns1:p>
          <ns2:p xmlns:ns2="http://schemas.openxmlformats.org/drawingml/2006/main">
            <ns2:r>
              <ns2:t>第三，查不到，或是看不懂，就問爸爸或老師；只是回頭再問它一次你確定嗎，不算查證。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https://eliteracy.edu.tw/Download.ashx?id=1817</ns4:t>
            </ns4:r>
          </ns4:p>
          <ns5:p xmlns:ns5="http://schemas.openxmlformats.org/drawingml/2006/main">
            <ns5:r>
              <ns5:t>https://support.google.com/websearch/answer/14901683?hl=zh-Hant</ns5:t>
            </ns5:r>
          </ns5:p>
          <ns6:p xmlns:ns6="http://schemas.openxmlformats.org/drawingml/2006/main">
            <ns6:r>
              <ns6:t>https://jr.hs.ntnu.edu.tw/wp-content/uploads/2026/02/中小學使用「生成式人工智慧」注意事項2.1.pdf</ns6:t>
            </ns6:r>
          </ns6:p>
          <ns7:p xmlns:ns7="http://schemas.openxmlformats.org/drawingml/2006/main">
            <ns7:r>
              <ns7:t>https://storage.courtlistener.com/recap/gov.uscourts.nysd.575368/gov.uscourts.nysd.575368.54.0_3.pdf</ns7:t>
            </ns7:r>
          </ns7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查完之後要判定。可靠的來源也這樣說，就是正確；和可靠的來源不一樣，就是錯誤。</ns0:t>
            </ns0:r>
          </ns0:p>
          <ns1:p xmlns:ns1="http://schemas.openxmlformats.org/drawingml/2006/main">
            <ns1:r>
              <ns1:t>如果怎麼查都查不到，就寫查不到，而且先不要把它當成真的。</ns1:t>
            </ns1:r>
          </ns1:p>
          <ns2:p xmlns:ns2="http://schemas.openxmlformats.org/drawingml/2006/main">
            <ns2:r>
              <ns2:t>還要記得，一個回答裡，對的和錯的可能混在一起，所以要一句一句看。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  <ns5:p xmlns:ns5="http://schemas.openxmlformats.org/drawingml/2006/main">
            <ns5:r>
              <ns5:t>https://www.ibm.com/think/topics/ai-hallucinations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有三種時候特別要小心。第一，要用在作業和報告的內容，一定先查證，再使用。</ns0:t>
            </ns0:r>
          </ns0:p>
          <ns1:p xmlns:ns1="http://schemas.openxmlformats.org/drawingml/2006/main">
            <ns1:r>
              <ns1:t>第二，和健康、金錢、安全有關的事，不要只聽它的，一定要問大人。</ns1:t>
            </ns1:r>
          </ns1:p>
          <ns2:p xmlns:ns2="http://schemas.openxmlformats.org/drawingml/2006/main">
            <ns2:r>
              <ns2:t>第三，查證的人也會出錯，所以重要的事要找第二個來源；發現錯誤就告訴爸爸，不要直接轉傳出去。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https://jr.hs.ntnu.edu.tw/wp-content/uploads/2026/02/中小學使用「生成式人工智慧」注意事項2.1.pdf</ns4:t>
            </ns4:r>
          </ns4:p>
          <ns5:p xmlns:ns5="http://schemas.openxmlformats.org/drawingml/2006/main">
            <ns5:r>
              <ns5:t>https://www.anthropic.com/legal/consumer-terms</ns5:t>
            </ns5:r>
          </ns5:p>
          <ns6:p xmlns:ns6="http://schemas.openxmlformats.org/drawingml/2006/main">
            <ns6:r>
              <ns6:t>https://support.google.com/websearch/answer/14901683?hl=zh-Hant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現在開始抓錯賽。教材裡有三則模擬回答，是這堂課特地編寫的，裡面故意藏了錯誤；請在每一則至少圈出三個需要查證的地方。</ns0:t>
            </ns0:r>
          </ns0:p>
          <ns1:p xmlns:ns1="http://schemas.openxmlformats.org/drawingml/2006/main">
            <ns1:r>
              <ns1:t>接著拿出資料卡，或是和爸爸一起上官方網站查，把每個地方判定成正確、錯誤，或是查不到。</ns1:t>
            </ns1:r>
          </ns1:p>
          <ns2:p xmlns:ns2="http://schemas.openxmlformats.org/drawingml/2006/main">
            <ns2:r>
              <ns2:t>找到錯誤之後，還要說出它是哪一種：名稱、數字、日期、引用，還是說得太肯定。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下半場換你設計自己的回答查核表，欄位由你決定，至少要有：哪一句話、是哪一種、去哪裡查，還有查到的結果。</ns0:t>
            </ns0:r>
          </ns0:p>
          <ns1:p xmlns:ns1="http://schemas.openxmlformats.org/drawingml/2006/main">
            <ns1:r>
              <ns1:t>再加一條你自己的偵探規則，例如只要是數字，就一定查兩個地方。</ns1:t>
            </ns1:r>
          </ns1:p>
          <ns2:p xmlns:ns2="http://schemas.openxmlformats.org/drawingml/2006/main">
            <ns2:r>
              <ns2:t>如果爸爸願意，可以請他用自己的帳號問一題冷門的問題，你來找出至少三個需要查證的地方。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兩小時的安排如下：開場十分鐘，認識幻覺和查核重點十五分鐘，接著四十分鐘舉行抓錯賽，再休息十分鐘。</ns0:t>
            </ns0:r>
          </ns0:p>
          <ns1:p xmlns:ns1="http://schemas.openxmlformats.org/drawingml/2006/main">
            <ns1:r>
              <ns1:t>然後用三十分鐘完成自己的查核表和偵探規則，再用十分鐘交換角色，由你帶著爸爸查證一則新的回答。</ns1:t>
            </ns1:r>
          </ns1:p>
          <ns2:p xmlns:ns2="http://schemas.openxmlformats.org/drawingml/2006/main">
            <ns2:r>
              <ns2:t>最後五分鐘錄音總結，替查核表取名字、存檔，以後看到任何回答，都可以拿出來用。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最後一關，請不看稿，拿一則新的回答，當場示範一次：標記、查證、判定。</ns0:t>
            </ns0:r>
          </ns0:p>
          <ns1:p xmlns:ns1="http://schemas.openxmlformats.org/drawingml/2006/main">
            <ns1:r>
              <ns1:t>再指出一個限制或安全注意事項，例如有附來源連結的回答，也可能是錯的。</ns1:t>
            </ns1:r>
          </ns1:p>
          <ns2:p xmlns:ns2="http://schemas.openxmlformats.org/drawingml/2006/main">
            <ns2:r>
              <ns2:t>今天的作品是回答查核表，下次我們要去逛文字、圖片和聲音的體驗站；我是陳犀牛，保持好奇，我們下次見！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curriculum/catalog.json：L012；來源 V2 Excel 逐堂課程第 12 堂</ns4:t>
            </ns4:r>
          </ns4:p>
          <ns5:p xmlns:ns5="http://schemas.openxmlformats.org/drawingml/2006/main">
            <ns5:r>
              <ns5:t>https://help.openai.com/en/articles/9237897-chatgpt-search</ns5:t>
            </ns5:r>
          </ns5:p>
          <ns6:p xmlns:ns6="http://schemas.openxmlformats.org/drawingml/2006/main">
            <ns6:r>
              <ns6:t>https://support.google.com/websearch/answer/14901683?hl=zh-Hant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第十二堂任務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會亂講：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幻覺抓錯賽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先標記、再查證、後判定，把錯誤抓出來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第十二堂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抓錯的三個步驟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先標記、再查證、後判定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標記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圈出名稱、數字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日期和引用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查證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到可靠的來源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看它說得對不對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判定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正確、錯誤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或是查不到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今天的作品：AI 回答查核表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AI 幻覺：說得很順，卻是錯的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「幻覺」是大家常用的說法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它是什麼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讀起來通順又有把握，內容卻是錯的或編的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為什麼會這樣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它在預測最可能的字，不是在確認真假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有附來源也要查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來源連結和引用，也可能出錯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最需要查的四種東西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看到這四種，就先圈起來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回答裡的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名稱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人名、地名、書名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數字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多高、多少、第幾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日期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哪一年、哪一天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引用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哪本書、哪個網站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第五種：說得太肯定，例如「一定」「剛好」「所有」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引用也可能是編的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書名、網址、案例，都要自己確認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回答裡寫著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資料來源：某本書、某個網站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你要確認兩件事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它真的存在嗎？裡面真的這樣寫嗎？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2023 年，美國有律師交出聊天機器人編的判決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那些判決並不存在；律師和事務所被罰五千美元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怎麼查證？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重要的事，多查一個地方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找原始來源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官方網站、原本的書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找第二個來源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兩邊說的一樣嗎？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問大人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查不到就問爸爸、老師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回頭問它「你確定嗎」不算查證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判定：正確、錯誤、查不到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每一個圈起來的地方，都要有結果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標記  →  查證  →  判定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正確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可靠來源也這樣說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錯誤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和可靠來源不一樣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查不到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先不要當成真的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對的和錯的可能混在一起，要一句一句看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三種特別要小心的時候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查證不是找麻煩，是保護自己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一、作業和報告：先查證，再使用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二、健康、金錢、安全：一定問大人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三、發現錯誤：告訴爸爸，不要轉傳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還要記得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查證的人也會出錯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重要的事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要找第二個來源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暫停影片：說出最需要查的四種東西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幻覺抓錯賽：三則模擬回答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回答是這堂課編寫的，裡面故意藏了錯誤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第一回合：標記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每一則至少圈出三個地方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寫下它是哪一種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第二回合：查證和判定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對照資料卡或官方網站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寫下正確、錯誤、查不到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找到錯，還要說出它是哪一種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換你設計：AI 回答查核表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做一張以後都用得上的表，再加一條偵探規則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設計查核表的欄位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哪一句、哪一種、去哪裡查、查到什麼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加一條偵探規則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例如：只要是數字，就查兩個地方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請爸爸問一題冷門題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用爸爸的帳號；你來找出三個要查的地方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兩小時的抓錯偵探課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影片先引路，接下來用查核表練習抓錯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三則回答抓錯賽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我的查核表＋偵探規則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孩子教爸爸查證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今日生活技能：資訊判讀，先標記、再查證、後判定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HALLUCINATION HUNT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L012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AI 會亂講：幻覺抓錯賽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最後一關：教爸爸查證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 AI 回答查核表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三則回答都查完，欄位自己設計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當場查一個地方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標記、查證、判定，說出它是哪一種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例如：有附來源的回答，也可能是錯的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