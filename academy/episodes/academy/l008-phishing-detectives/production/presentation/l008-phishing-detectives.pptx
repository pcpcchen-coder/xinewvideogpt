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a988a24aafe451e" /><Relationship Type="http://schemas.openxmlformats.org/officeDocument/2006/relationships/extended-properties" Target="/docProps/app.xml" Id="R89e96513bbe04724" /><Relationship Type="http://schemas.openxmlformats.org/officeDocument/2006/relationships/officeDocument" Target="/ppt/presentation.xml" Id="Rac0ba3e5e13e4c2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9206fbd42a047d8"/>
  </p:sldMasterIdLst>
  <p:notesMasterIdLst>
    <p:notesMasterId xmlns:r="http://schemas.openxmlformats.org/officeDocument/2006/relationships" r:id="Refa0495f597e460d"/>
  </p:notesMasterIdLst>
  <p:sldIdLst>
    <p:sldId xmlns:r="http://schemas.openxmlformats.org/officeDocument/2006/relationships" id="256" r:id="R49f6f5a24bd647a8"/>
    <p:sldId xmlns:r="http://schemas.openxmlformats.org/officeDocument/2006/relationships" id="257" r:id="R88628df68a374ef0"/>
    <p:sldId xmlns:r="http://schemas.openxmlformats.org/officeDocument/2006/relationships" id="258" r:id="Rd27480d80eb343c1"/>
    <p:sldId xmlns:r="http://schemas.openxmlformats.org/officeDocument/2006/relationships" id="259" r:id="R5757ca2db59c437c"/>
    <p:sldId xmlns:r="http://schemas.openxmlformats.org/officeDocument/2006/relationships" id="260" r:id="R8642c9da82294e9e"/>
    <p:sldId xmlns:r="http://schemas.openxmlformats.org/officeDocument/2006/relationships" id="261" r:id="R55c6f5b785bc40c6"/>
    <p:sldId xmlns:r="http://schemas.openxmlformats.org/officeDocument/2006/relationships" id="262" r:id="R714657ef8fec4c99"/>
    <p:sldId xmlns:r="http://schemas.openxmlformats.org/officeDocument/2006/relationships" id="263" r:id="R11a87a17727342c9"/>
    <p:sldId xmlns:r="http://schemas.openxmlformats.org/officeDocument/2006/relationships" id="264" r:id="R4189eb7daf9648d3"/>
    <p:sldId xmlns:r="http://schemas.openxmlformats.org/officeDocument/2006/relationships" id="265" r:id="R5eeaeb7b63ef4161"/>
    <p:sldId xmlns:r="http://schemas.openxmlformats.org/officeDocument/2006/relationships" id="266" r:id="Rcb59e5ea54904e50"/>
    <p:sldId xmlns:r="http://schemas.openxmlformats.org/officeDocument/2006/relationships" id="267" r:id="Rc97f0bfbfab6496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5ed54bdca8c42da" /><Relationship Type="http://schemas.openxmlformats.org/officeDocument/2006/relationships/slideMaster" Target="/ppt/slideMasters/slideMaster1.xml" Id="Rf9206fbd42a047d8" /><Relationship Type="http://schemas.openxmlformats.org/officeDocument/2006/relationships/notesMaster" Target="/ppt/notesMasters/notesMaster1.xml" Id="Refa0495f597e460d" /><Relationship Type="http://schemas.openxmlformats.org/officeDocument/2006/relationships/presProps" Target="/ppt/presProps.xml" Id="R3814497235de494e" /><Relationship Type="http://schemas.openxmlformats.org/officeDocument/2006/relationships/tableStyles" Target="/ppt/tableStyles.xml" Id="R1fe61fdcf3e64d9e" /><Relationship Type="http://schemas.openxmlformats.org/officeDocument/2006/relationships/slide" Target="/ppt/slides/slide1.xml" Id="R49f6f5a24bd647a8" /><Relationship Type="http://schemas.openxmlformats.org/officeDocument/2006/relationships/slide" Target="/ppt/slides/slide2.xml" Id="R88628df68a374ef0" /><Relationship Type="http://schemas.openxmlformats.org/officeDocument/2006/relationships/slide" Target="/ppt/slides/slide3.xml" Id="Rd27480d80eb343c1" /><Relationship Type="http://schemas.openxmlformats.org/officeDocument/2006/relationships/slide" Target="/ppt/slides/slide4.xml" Id="R5757ca2db59c437c" /><Relationship Type="http://schemas.openxmlformats.org/officeDocument/2006/relationships/slide" Target="/ppt/slides/slide5.xml" Id="R8642c9da82294e9e" /><Relationship Type="http://schemas.openxmlformats.org/officeDocument/2006/relationships/slide" Target="/ppt/slides/slide6.xml" Id="R55c6f5b785bc40c6" /><Relationship Type="http://schemas.openxmlformats.org/officeDocument/2006/relationships/slide" Target="/ppt/slides/slide7.xml" Id="R714657ef8fec4c99" /><Relationship Type="http://schemas.openxmlformats.org/officeDocument/2006/relationships/slide" Target="/ppt/slides/slide8.xml" Id="R11a87a17727342c9" /><Relationship Type="http://schemas.openxmlformats.org/officeDocument/2006/relationships/slide" Target="/ppt/slides/slide9.xml" Id="R4189eb7daf9648d3" /><Relationship Type="http://schemas.openxmlformats.org/officeDocument/2006/relationships/slide" Target="/ppt/slides/slide10.xml" Id="R5eeaeb7b63ef4161" /><Relationship Type="http://schemas.openxmlformats.org/officeDocument/2006/relationships/slide" Target="/ppt/slides/slide11.xml" Id="Rcb59e5ea54904e50" /><Relationship Type="http://schemas.openxmlformats.org/officeDocument/2006/relationships/slide" Target="/ppt/slides/slide12.xml" Id="Rc97f0bfbfab6496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d741c5c1ae04d8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40354bf412b4ff9" /><Relationship Type="http://schemas.openxmlformats.org/officeDocument/2006/relationships/notesMaster" Target="/ppt/notesMasters/notesMaster1.xml" Id="R59bd68112d5242e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34d30af8e944d3e" /><Relationship Type="http://schemas.openxmlformats.org/officeDocument/2006/relationships/notesMaster" Target="/ppt/notesMasters/notesMaster1.xml" Id="Rafd47ed5ff1a429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172518e16404235" /><Relationship Type="http://schemas.openxmlformats.org/officeDocument/2006/relationships/notesMaster" Target="/ppt/notesMasters/notesMaster1.xml" Id="Rd63c22441ec64fc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9923db918b841ad" /><Relationship Type="http://schemas.openxmlformats.org/officeDocument/2006/relationships/notesMaster" Target="/ppt/notesMasters/notesMaster1.xml" Id="R7941520217ca403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93810193bdd4164" /><Relationship Type="http://schemas.openxmlformats.org/officeDocument/2006/relationships/notesMaster" Target="/ppt/notesMasters/notesMaster1.xml" Id="R79b9bd633e3140a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f55848a748243c0" /><Relationship Type="http://schemas.openxmlformats.org/officeDocument/2006/relationships/notesMaster" Target="/ppt/notesMasters/notesMaster1.xml" Id="Rde134264ff8d43a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46a6949d1274af6" /><Relationship Type="http://schemas.openxmlformats.org/officeDocument/2006/relationships/notesMaster" Target="/ppt/notesMasters/notesMaster1.xml" Id="Ra47285ef1eb0456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3baf8d5757244ad" /><Relationship Type="http://schemas.openxmlformats.org/officeDocument/2006/relationships/notesMaster" Target="/ppt/notesMasters/notesMaster1.xml" Id="Rc881b0a68e7f440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22e473fac604186" /><Relationship Type="http://schemas.openxmlformats.org/officeDocument/2006/relationships/notesMaster" Target="/ppt/notesMasters/notesMaster1.xml" Id="Rdd3835e84b23476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6db27e207cb45f2" /><Relationship Type="http://schemas.openxmlformats.org/officeDocument/2006/relationships/notesMaster" Target="/ppt/notesMasters/notesMaster1.xml" Id="Re1098236ebca4b8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7efc0b7aa1149f0" /><Relationship Type="http://schemas.openxmlformats.org/officeDocument/2006/relationships/notesMaster" Target="/ppt/notesMasters/notesMaster1.xml" Id="Ra4844436f9474f0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4a926e2db294eee" /><Relationship Type="http://schemas.openxmlformats.org/officeDocument/2006/relationships/notesMaster" Target="/ppt/notesMasters/notesMaster1.xml" Id="R2879397b9396444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歡迎回到父子科技學院，我是陳犀牛，今天是第八堂，釣魚郵件偵探社，這是依課表製作的課前教學版，並非實際上課錄音。</ns0:t>
            </ns0:r>
          </ns0:p>
          <ns1:p xmlns:ns1="http://schemas.openxmlformats.org/drawingml/2006/main">
            <ns1:r>
              <ns1:t>有些訊息會假裝成你認識的公司或朋友，想騙走你的密碼或個人資料，這種手法叫做網路釣魚。</ns1:t>
            </ns1:r>
          </ns1:p>
          <ns2:p xmlns:ns2="http://schemas.openxmlformats.org/drawingml/2006/main">
            <ns2:r>
              <ns2:t>今天我們要成立偵探社，學會找出假訊息的五面紅旗，最後做出一張釣魚訊息紅旗海報。</ns2:t>
            </ns2:r>
          </ns2:p>
          <ns3:p xmlns:ns3="http://schemas.openxmlformats.org/drawingml/2006/main">
            <ns3:r>
              <ns3:t>[Sources]</ns3:t>
            </ns3:r>
          </ns3:p>
          <ns4:p xmlns:ns4="http://schemas.openxmlformats.org/drawingml/2006/main">
            <ns4:r>
              <ns4:t>curriculum/catalog.json：L008；來源 V2 Excel 逐堂課程第 8 堂</ns4:t>
            </ns4:r>
          </ns4:p>
          <ns5:p xmlns:ns5="http://schemas.openxmlformats.org/drawingml/2006/main">
            <ns5:r>
              <ns5:t>https://consumer.ftc.gov/articles/how-recognize-and-avoid-phishing-scams</ns5:t>
            </ns5:r>
          </ns5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偵探辦案有三個步驟。第一步是停，看到奇怪或很急的訊息，先不要點，也不要回。</ns0:t>
            </ns0:r>
          </ns0:p>
          <ns1:p xmlns:ns1="http://schemas.openxmlformats.org/drawingml/2006/main">
            <ns1:r>
              <ns1:t>第二步是看，仔細找出訊息裡的紅旗，例如語氣、寄件者，還有連結的網址。</ns1:t>
            </ns1:r>
          </ns1:p>
          <ns2:p xmlns:ns2="http://schemas.openxmlformats.org/drawingml/2006/main">
            <ns2:r>
              <ns2:t>第三步是查，不用訊息裡的連結，自己打開官方的 App 或網站確認，拿不定主意就問爸爸。</ns2:t>
            </ns2:r>
          </ns2:p>
          <ns3:p xmlns:ns3="http://schemas.openxmlformats.org/drawingml/2006/main">
            <ns3:r>
              <ns3:t>[Sources]</ns3:t>
            </ns3:r>
          </ns3:p>
          <ns4:p xmlns:ns4="http://schemas.openxmlformats.org/drawingml/2006/main">
            <ns4:r>
              <ns4:t>https://consumer.ftc.gov/consumer-alerts/2025/04/protect-yourself-phishing-scams</ns4:t>
            </ns4:r>
          </ns4:p>
          <ns5:p xmlns:ns5="http://schemas.openxmlformats.org/drawingml/2006/main">
            <ns5:r>
              <ns5:t>https://consumer.ftc.gov/system/files/consumer_ftc_gov/pdf/FillingYourDigitalToolbox-508.pdf</ns5:t>
            </ns5:r>
          </ns5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釣魚訊息可能從電子郵件來，也可能是簡訊、社群貼文，或是通訊軟體裡的訊息。</ns0:t>
            </ns0:r>
          </ns0:p>
          <ns1:p xmlns:ns1="http://schemas.openxmlformats.org/drawingml/2006/main">
            <ns1:r>
              <ns1:t>它想要的東西通常是密碼、驗證碼、帳號資料，或是騙你打開連結和附件，讓電腦裝進壞程式。</ns1:t>
            </ns1:r>
          </ns1:p>
          <ns2:p xmlns:ns2="http://schemas.openxmlformats.org/drawingml/2006/main">
            <ns2:r>
              <ns2:t>它很容易讓人上當，因為看起來很像真的，又常常催你趕快做決定，讓你來不及想。</ns2:t>
            </ns2:r>
          </ns2:p>
          <ns3:p xmlns:ns3="http://schemas.openxmlformats.org/drawingml/2006/main">
            <ns3:r>
              <ns3:t>[Sources]</ns3:t>
            </ns3:r>
          </ns3:p>
          <ns4:p xmlns:ns4="http://schemas.openxmlformats.org/drawingml/2006/main">
            <ns4:r>
              <ns4:t>https://consumer.ftc.gov/articles/how-recognize-and-avoid-phishing-scams</ns4:t>
            </ns4:r>
          </ns4:p>
          <ns5:p xmlns:ns5="http://schemas.openxmlformats.org/drawingml/2006/main">
            <ns5:r>
              <ns5:t>https://support.google.com/mail/answer/8253?hl=zh-Hant</ns5:t>
            </ns5:r>
          </ns5:p>
          <ns6:p xmlns:ns6="http://schemas.openxmlformats.org/drawingml/2006/main">
            <ns6:r>
              <ns6:t>https://www.ncsc.gov.uk/collection/phishing-scams/spot-scams</ns6:t>
            </ns6:r>
          </ns6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釣魚訊息常見五面紅旗。前四面是：語氣很急、寄件者是假的、網址很奇怪，還有沒預期的附件。</ns0:t>
            </ns0:r>
          </ns0:p>
          <ns1:p xmlns:ns1="http://schemas.openxmlformats.org/drawingml/2006/main">
            <ns1:r>
              <ns1:t>第五面紅旗最重要：它向你要錢、要密碼，或是要驗證碼。</ns1:t>
            </ns1:r>
          </ns1:p>
          <ns2:p xmlns:ns2="http://schemas.openxmlformats.org/drawingml/2006/main">
            <ns2:r>
              <ns2:t>紅旗越多越可疑；不過現在的假訊息做得很像真的，就算找不到紅旗，不確定的時候還是要先查證。</ns2:t>
            </ns2:r>
          </ns2:p>
          <ns3:p xmlns:ns3="http://schemas.openxmlformats.org/drawingml/2006/main">
            <ns3:r>
              <ns3:t>[Sources]</ns3:t>
            </ns3:r>
          </ns3:p>
          <ns4:p xmlns:ns4="http://schemas.openxmlformats.org/drawingml/2006/main">
            <ns4:r>
              <ns4:t>https://support.apple.com/zh-tw/102568</ns4:t>
            </ns4:r>
          </ns4:p>
          <ns5:p xmlns:ns5="http://schemas.openxmlformats.org/drawingml/2006/main">
            <ns5:r>
              <ns5:t>https://support.google.com/mail/answer/8253?hl=zh-Hant</ns5:t>
            </ns5:r>
          </ns5:p>
          <ns6:p xmlns:ns6="http://schemas.openxmlformats.org/drawingml/2006/main">
            <ns6:r>
              <ns6:t>https://www.ncsc.gov.uk/collection/phishing-scams/spot-scams</ns6:t>
            </ns6:r>
          </ns6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先看寄件者。訊息上顯示的寄件者名字可以造假，所以不能只看名字。</ns0:t>
            </ns0:r>
          </ns0:p>
          <ns1:p xmlns:ns1="http://schemas.openxmlformats.org/drawingml/2006/main">
            <ns1:r>
              <ns1:t>要把完整的電子郵件地址打開來看，如果名字說是學習網的客服，地址卻是完全不相干的網站，這就是紅旗。</ns1:t>
            </ns1:r>
          </ns1:p>
          <ns2:p xmlns:ns2="http://schemas.openxmlformats.org/drawingml/2006/main">
            <ns2:r>
              <ns2:t>還要記得，連地址都有可能被偽造，所以地址看起來沒問題，也要再檢查其他的紅旗。</ns2:t>
            </ns2:r>
          </ns2:p>
          <ns3:p xmlns:ns3="http://schemas.openxmlformats.org/drawingml/2006/main">
            <ns3:r>
              <ns3:t>[Sources]</ns3:t>
            </ns3:r>
          </ns3:p>
          <ns4:p xmlns:ns4="http://schemas.openxmlformats.org/drawingml/2006/main">
            <ns4:r>
              <ns4:t>https://support.google.com/mail/answer/8253?hl=zh-Hant</ns4:t>
            </ns4:r>
          </ns4:p>
          <ns5:p xmlns:ns5="http://schemas.openxmlformats.org/drawingml/2006/main">
            <ns5:r>
              <ns5:t>https://support.apple.com/zh-tw/102568</ns5:t>
            </ns5:r>
          </ns5:p>
          <ns6:p xmlns:ns6="http://schemas.openxmlformats.org/drawingml/2006/main">
            <ns6:r>
              <ns6:t>https://support.microsoft.com/zh-TW/Outlook/mail/phishing-and-suspicious-behavior-in-outlook</ns6:t>
            </ns6:r>
          </ns6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再來看網址。連結上面寫的字，和它真正要去的地方，可能不一樣。</ns0:t>
            </ns0:r>
          </ns0:p>
          <ns1:p xmlns:ns1="http://schemas.openxmlformats.org/drawingml/2006/main">
            <ns1:r>
              <ns1:t>在 Mac 上，把指標停在連結上面先不要按，就可以看到真正的網址，再比一比是不是那個官方網站。</ns1:t>
            </ns1:r>
          </ns1:p>
          <ns2:p xmlns:ns2="http://schemas.openxmlformats.org/drawingml/2006/main">
            <ns2:r>
              <ns2:t>如果不一樣，或是你看不懂，就不要點；想去那個網站，請自己輸入你原本就知道的網址。</ns2:t>
            </ns2:r>
          </ns2:p>
          <ns3:p xmlns:ns3="http://schemas.openxmlformats.org/drawingml/2006/main">
            <ns3:r>
              <ns3:t>[Sources]</ns3:t>
            </ns3:r>
          </ns3:p>
          <ns4:p xmlns:ns4="http://schemas.openxmlformats.org/drawingml/2006/main">
            <ns4:r>
              <ns4:t>https://support.apple.com/zh-tw/102568</ns4:t>
            </ns4:r>
          </ns4:p>
          <ns5:p xmlns:ns5="http://schemas.openxmlformats.org/drawingml/2006/main">
            <ns5:r>
              <ns5:t>https://support.google.com/mail/answer/8253?hl=zh-Hant</ns5:t>
            </ns5:r>
          </ns5:p>
          <ns6:p xmlns:ns6="http://schemas.openxmlformats.org/drawingml/2006/main">
            <ns6:r>
              <ns6:t>https://consumer.ftc.gov/articles/how-recognize-and-report-spam-text-messages</ns6:t>
            </ns6:r>
          </ns6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假訊息喜歡催你、嚇你，例如說二十四小時內不處理，帳號就會被停用，這種很急的語氣就是紅旗。</ns0:t>
            </ns0:r>
          </ns0:p>
          <ns1:p xmlns:ns1="http://schemas.openxmlformats.org/drawingml/2006/main">
            <ns1:r>
              <ns1:t>沒有預期會收到的附件也是紅旗，不要打開，也不要下載。</ns1:t>
            </ns1:r>
          </ns1:p>
          <ns2:p xmlns:ns2="http://schemas.openxmlformats.org/drawingml/2006/main">
            <ns2:r>
              <ns2:t>只要訊息向你要密碼、驗證碼，或是要你付錢、買禮物卡，就先把它當成釣魚，停下來找爸爸。</ns2:t>
            </ns2:r>
          </ns2:p>
          <ns3:p xmlns:ns3="http://schemas.openxmlformats.org/drawingml/2006/main">
            <ns3:r>
              <ns3:t>[Sources]</ns3:t>
            </ns3:r>
          </ns3:p>
          <ns4:p xmlns:ns4="http://schemas.openxmlformats.org/drawingml/2006/main">
            <ns4:r>
              <ns4:t>https://www.ncsc.gov.uk/collection/phishing-scams/spot-scams</ns4:t>
            </ns4:r>
          </ns4:p>
          <ns5:p xmlns:ns5="http://schemas.openxmlformats.org/drawingml/2006/main">
            <ns5:r>
              <ns5:t>https://support.apple.com/zh-tw/102568</ns5:t>
            </ns5:r>
          </ns5:p>
          <ns6:p xmlns:ns6="http://schemas.openxmlformats.org/drawingml/2006/main">
            <ns6:r>
              <ns6:t>https://consumer.ftc.gov/articles/how-recognize-and-avoid-phishing-scams</ns6:t>
            </ns6:r>
          </ns6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發現可疑的訊息，安全動作有三個：不點連結、不開附件、不回覆。</ns0:t>
            </ns0:r>
          </ns0:p>
          <ns1:p xmlns:ns1="http://schemas.openxmlformats.org/drawingml/2006/main">
            <ns1:r>
              <ns1:t>想確認是不是真的，就自己打開官方的 App 或網站，或是打你原本就知道的電話去問。</ns1:t>
            </ns1:r>
          </ns1:p>
          <ns2:p xmlns:ns2="http://schemas.openxmlformats.org/drawingml/2006/main">
            <ns2:r>
              <ns2:t>如果不小心已經點了，或是輸入了密碼，馬上告訴爸爸，不要怕被罵，再一起把密碼改掉，並確認雙重驗證有開。</ns2:t>
            </ns2:r>
          </ns2:p>
          <ns3:p xmlns:ns3="http://schemas.openxmlformats.org/drawingml/2006/main">
            <ns3:r>
              <ns3:t>[Sources]</ns3:t>
            </ns3:r>
          </ns3:p>
          <ns4:p xmlns:ns4="http://schemas.openxmlformats.org/drawingml/2006/main">
            <ns4:r>
              <ns4:t>https://consumer.ftc.gov/consumer-alerts/2025/04/protect-yourself-phishing-scams</ns4:t>
            </ns4:r>
          </ns4:p>
          <ns5:p xmlns:ns5="http://schemas.openxmlformats.org/drawingml/2006/main">
            <ns5:r>
              <ns5:t>https://support.apple.com/zh-tw/102568</ns5:t>
            </ns5:r>
          </ns5:p>
          <ns6:p xmlns:ns6="http://schemas.openxmlformats.org/drawingml/2006/main">
            <ns6:r>
              <ns6:t>https://consumer.ftc.gov/system/files/consumer_ftc_gov/pdf/FillingYourDigitalToolbox-508.pdf</ns6:t>
            </ns6:r>
          </ns6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現在開始辦案。桌上有八張訊息卡，有的是釣魚，有的不是，請你一張一張檢查，把看到的紅旗圈出來。</ns0:t>
            </ns0:r>
          </ns0:p>
          <ns1:p xmlns:ns1="http://schemas.openxmlformats.org/drawingml/2006/main">
            <ns1:r>
              <ns1:t>每一張卡都要說出你會做的安全動作，還要說出理由，說得出理由才算破案。</ns1:t>
            </ns1:r>
          </ns1:p>
          <ns2:p xmlns:ns2="http://schemas.openxmlformats.org/drawingml/2006/main">
            <ns2:r>
              <ns2:t>遇到沒有紅旗的卡片也不能直接放過，要說出你會用什麼方法，確認它是真的。</ns2:t>
            </ns2:r>
          </ns2:p>
          <ns3:p xmlns:ns3="http://schemas.openxmlformats.org/drawingml/2006/main">
            <ns3:r>
              <ns3:t>[Sources]</ns3:t>
            </ns3:r>
          </ns3:p>
          <ns4:p xmlns:ns4="http://schemas.openxmlformats.org/drawingml/2006/main">
            <ns4:r>
              <ns4:t>curriculum/catalog.json：L008；來源 V2 Excel 逐堂課程第 8 堂</ns4:t>
            </ns4:r>
          </ns4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下半場換你設計一張釣魚訊息紅旗海報，把五面紅旗畫出來：語氣、寄件者、網址、附件，還有要錢要密碼。</ns0:t>
            </ns0:r>
          </ns0:p>
          <ns1:p xmlns:ns1="http://schemas.openxmlformats.org/drawingml/2006/main">
            <ns1:r>
              <ns1:t>海報上還要寫出三個安全動作：不點、不開、不回，最後加上一句，不確定就告訴爸爸。</ns1:t>
            </ns1:r>
          </ns1:p>
          <ns2:p xmlns:ns2="http://schemas.openxmlformats.org/drawingml/2006/main">
            <ns2:r>
              <ns2:t>再加一條你自己的偵探規則，例如看到立刻兩個字，就先深呼吸十秒再說。</ns2:t>
            </ns2:r>
          </ns2:p>
          <ns3:p xmlns:ns3="http://schemas.openxmlformats.org/drawingml/2006/main">
            <ns3:r>
              <ns3:t>[Sources]</ns3:t>
            </ns3:r>
          </ns3:p>
          <ns4:p xmlns:ns4="http://schemas.openxmlformats.org/drawingml/2006/main">
            <ns4:r>
              <ns4:t>curriculum/catalog.json：L008；來源 V2 Excel 逐堂課程第 8 堂</ns4:t>
            </ns4:r>
          </ns4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兩小時的安排是這樣：開場十分鐘，認識紅旗十五分鐘，接著用四十分鐘辦訊息卡的案子，然後休息十分鐘。</ns0:t>
            </ns0:r>
          </ns0:p>
          <ns1:p xmlns:ns1="http://schemas.openxmlformats.org/drawingml/2006/main">
            <ns1:r>
              <ns1:t>休息過後，用三十分鐘畫紅旗海報、訂偵探規則，再用十分鐘交換角色，讓孩子教爸爸怎麼辨識。</ns1:t>
            </ns1:r>
          </ns1:p>
          <ns2:p xmlns:ns2="http://schemas.openxmlformats.org/drawingml/2006/main">
            <ns2:r>
              <ns2:t>最後五分鐘錄音總結，替海報取名字並存檔，把它貼在全家人都看得到的地方。</ns2:t>
            </ns2:r>
          </ns2:p>
          <ns3:p xmlns:ns3="http://schemas.openxmlformats.org/drawingml/2006/main">
            <ns3:r>
              <ns3:t>[Sources]</ns3:t>
            </ns3:r>
          </ns3:p>
          <ns4:p xmlns:ns4="http://schemas.openxmlformats.org/drawingml/2006/main">
            <ns4:r>
              <ns4:t>curriculum/catalog.json：L008；來源 V2 Excel 逐堂課程第 8 堂</ns4:t>
            </ns4:r>
          </ns4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最後一關，請不看稿，拿一張新的訊息卡，在爸爸面前辦一次案：圈出紅旗，再說出安全動作。</ns0:t>
            </ns0:r>
          </ns0:p>
          <ns1:p xmlns:ns1="http://schemas.openxmlformats.org/drawingml/2006/main">
            <ns1:r>
              <ns1:t>再指出一個限制或安全注意事項，例如沒有錯字、看起來很專業的訊息，也可能是釣魚。</ns1:t>
            </ns1:r>
          </ns1:p>
          <ns2:p xmlns:ns2="http://schemas.openxmlformats.org/drawingml/2006/main">
            <ns2:r>
              <ns2:t>今天的作品是釣魚訊息紅旗海報，下次我們要認識個資、照片與數位足跡；我是陳犀牛，保持好奇，我們下次見！</ns2:t>
            </ns2:r>
          </ns2:p>
          <ns3:p xmlns:ns3="http://schemas.openxmlformats.org/drawingml/2006/main">
            <ns3:r>
              <ns3:t>[Sources]</ns3:t>
            </ns3:r>
          </ns3:p>
          <ns4:p xmlns:ns4="http://schemas.openxmlformats.org/drawingml/2006/main">
            <ns4:r>
              <ns4:t>curriculum/catalog.json：L008；來源 V2 Excel 逐堂課程第 8 堂</ns4:t>
            </ns4:r>
          </ns4:p>
          <ns5:p xmlns:ns5="http://schemas.openxmlformats.org/drawingml/2006/main">
            <ns5:r>
              <ns5:t>https://www.ncsc.gov.uk/collection/phishing-scams/spot-scams</ns5:t>
            </ns5:r>
          </ns5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42e03d71fb4c0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d512989e5794e8e" /><Relationship Type="http://schemas.openxmlformats.org/officeDocument/2006/relationships/slideLayout" Target="/ppt/slideLayouts/slideLayout1.xml" Id="R01a482d4b8e4475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1a482d4b8e4475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0a216ea8054d9b" /><Relationship Type="http://schemas.openxmlformats.org/officeDocument/2006/relationships/image" Target="/ppt/media/image.png" Id="Rbca4e52f8e0146e2" /><Relationship Type="http://schemas.openxmlformats.org/officeDocument/2006/relationships/notesSlide" Target="/ppt/notesSlides/notesSlide1.xml" Id="Rc6043144aa37457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b7a6bd9200494c" /><Relationship Type="http://schemas.openxmlformats.org/officeDocument/2006/relationships/notesSlide" Target="/ppt/notesSlides/notesSlide2.xml" Id="R62f52c685e0543f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d78bbb918141ab" /><Relationship Type="http://schemas.openxmlformats.org/officeDocument/2006/relationships/image" Target="/ppt/media/image2.png" Id="Rec23f7c286e54276" /><Relationship Type="http://schemas.openxmlformats.org/officeDocument/2006/relationships/notesSlide" Target="/ppt/notesSlides/notesSlide3.xml" Id="R154a8cc8c06d4cd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d87ded7a2a4638" /><Relationship Type="http://schemas.openxmlformats.org/officeDocument/2006/relationships/notesSlide" Target="/ppt/notesSlides/notesSlide4.xml" Id="Re40bfdfa35b9452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a185b7b7dd4fa3" /><Relationship Type="http://schemas.openxmlformats.org/officeDocument/2006/relationships/notesSlide" Target="/ppt/notesSlides/notesSlide5.xml" Id="R3e0ba43c70dc44d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10d0cc4a2649e6" /><Relationship Type="http://schemas.openxmlformats.org/officeDocument/2006/relationships/notesSlide" Target="/ppt/notesSlides/notesSlide6.xml" Id="Rf44d2045cb9b496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dcbf5b26534f49" /><Relationship Type="http://schemas.openxmlformats.org/officeDocument/2006/relationships/notesSlide" Target="/ppt/notesSlides/notesSlide7.xml" Id="Rce2e5e22c150416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af8929889540e5" /><Relationship Type="http://schemas.openxmlformats.org/officeDocument/2006/relationships/notesSlide" Target="/ppt/notesSlides/notesSlide8.xml" Id="R4096185b08b948c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ab5ad502fc443c" /><Relationship Type="http://schemas.openxmlformats.org/officeDocument/2006/relationships/notesSlide" Target="/ppt/notesSlides/notesSlide9.xml" Id="Re86d4aeeaf9c48e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5fbaad4520438c" /><Relationship Type="http://schemas.openxmlformats.org/officeDocument/2006/relationships/image" Target="/ppt/media/image3.png" Id="R975aaaee3a564bfb" /><Relationship Type="http://schemas.openxmlformats.org/officeDocument/2006/relationships/notesSlide" Target="/ppt/notesSlides/notesSlide10.xml" Id="R64cb8e182fa2477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0a098c5db24b6c" /><Relationship Type="http://schemas.openxmlformats.org/officeDocument/2006/relationships/notesSlide" Target="/ppt/notesSlides/notesSlide11.xml" Id="Rb386007287c74a0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84b097f0224479" /><Relationship Type="http://schemas.openxmlformats.org/officeDocument/2006/relationships/image" Target="/ppt/media/image4.png" Id="Rd0245ce9480844b8" /><Relationship Type="http://schemas.openxmlformats.org/officeDocument/2006/relationships/notesSlide" Target="/ppt/notesSlides/notesSlide12.xml" Id="Rdd399b867a354cdf" /></Relationships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41222"/>
            </a:gs>
            <a:gs pos="62000">
              <a:srgbClr val="071F37"/>
            </a:gs>
            <a:gs pos="100000">
              <a:srgbClr val="04122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95FB6F-14E0-475B-BF4B-B88AB7823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1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9B8E06-E7FB-459B-A44A-F02346204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CHEN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013C84-ED01-4C2B-86C9-EF26FF57E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76225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CE275A-40A8-4D33-948B-547187BC8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2425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父子科技學院  ·  PHISHING DETECTIVES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49E491-2F41-46FB-9A31-0F0F76092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3375"/>
            <a:ext cx="1666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L008 · 01/12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BBA164-E856-44B9-A42B-1107C702E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63D37F-BB8F-4146-92E7-32AF5A8E7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釣魚郵件偵探社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C0F41E-3799-459D-9A13-E32D02B12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543675"/>
            <a:ext cx="14382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 SAYS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9E9924-92DB-436D-8F7B-98E42426E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19200"/>
            <a:ext cx="609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第八堂任務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471F37-8ACE-469E-A741-AF301162A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905000"/>
            <a:ext cx="8572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575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4575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釣魚郵件</a:t>
            </a:r>
          </a:p>
          <a:p xmlns:a="http://schemas.openxmlformats.org/drawingml/2006/main">
            <a:pPr>
              <a:defRPr sz="4575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4575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偵探社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59F7BD-9752-41C4-BA80-944206D19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00475"/>
            <a:ext cx="7524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找出假訊息的五面紅旗，再做出安全動作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140ADE-9E81-466D-AB92-F07880191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95825"/>
            <a:ext cx="666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rPr>
              <a:t>第八堂  ·  依課表製作的課前教學版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a4e52f8e0146e2"/>
          <a:stretch xmlns:a="http://schemas.openxmlformats.org/drawingml/2006/main"/>
        </p:blipFill>
        <p:spPr>
          <a:xfrm xmlns:a="http://schemas.openxmlformats.org/drawingml/2006/main">
            <a:off x="7905934" y="3276600"/>
            <a:ext cx="3923932" cy="220838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569016"/>
      </p:ext>
    </p:extLst>
  </p:cSld>
</p:sld>
</file>

<file path=ppt/slides/slide2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41222"/>
            </a:gs>
            <a:gs pos="62000">
              <a:srgbClr val="071F37"/>
            </a:gs>
            <a:gs pos="100000">
              <a:srgbClr val="04122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5A8FDF-0A26-4AB5-9D52-0FA904780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1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340C0D-229D-4A52-9A08-FD018C4B0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CHEN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3D5C34-F886-4E17-BB12-C3FAC5B0A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76225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04A3E2-C971-4D96-9860-74C3D879B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2425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父子科技學院  ·  PHISHING DETECTIVES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551D3D-E13F-47B0-9162-3F898E175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3375"/>
            <a:ext cx="1666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L008 · 02/12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1426FB-E164-4DEC-B08D-E30D9A311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87DAC1-9B87-404E-8AAE-F15C303E5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釣魚郵件偵探社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B1BC82-69E0-407E-B693-88FB7DFA3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543675"/>
            <a:ext cx="14382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 SAYS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101A07-E021-4D16-812A-A59902B52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偵探三步：停、看、查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F2A1F9-F217-4B1C-B31F-32D8F4E79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越急的訊息，越要先停下來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D8C5F4-E88E-40FF-A201-19945C4BB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81300"/>
            <a:ext cx="2952750" cy="1971675"/>
          </a:xfrm>
          <a:prstGeom xmlns:a="http://schemas.openxmlformats.org/drawingml/2006/main" prst="roundRect">
            <a:avLst>
              <a:gd name="adj" fmla="val 6763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46C8F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F72F21-E0AD-430B-9164-ED9F625AB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43225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rPr>
              <a:t>01 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0DBF8D-D7BF-4DAA-B14C-0FF82851E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86150"/>
            <a:ext cx="2571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先不點、不回</a:t>
            </a:r>
          </a:p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越急越要停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A351D7-1303-4008-BCCC-ACAE4B2C0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505200"/>
            <a:ext cx="457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B159D6-9798-4EB5-AD1D-C80C201FD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781300"/>
            <a:ext cx="2952750" cy="1971675"/>
          </a:xfrm>
          <a:prstGeom xmlns:a="http://schemas.openxmlformats.org/drawingml/2006/main" prst="roundRect">
            <a:avLst>
              <a:gd name="adj" fmla="val 6763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46C8F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CE4443-04FD-44CB-86A5-BDE274680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943225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rPr>
              <a:t>02 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4384A8-4A5D-41D2-A421-29C7BA742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486150"/>
            <a:ext cx="2571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找出紅旗</a:t>
            </a:r>
          </a:p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語氣、寄件者、網址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5391EA-D475-4AF5-B429-F5C98821F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3505200"/>
            <a:ext cx="457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D77F44-9521-4837-B5D9-DD8CA601A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781300"/>
            <a:ext cx="3714750" cy="1971675"/>
          </a:xfrm>
          <a:prstGeom xmlns:a="http://schemas.openxmlformats.org/drawingml/2006/main" prst="roundRect">
            <a:avLst>
              <a:gd name="adj" fmla="val 6763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FFC12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4C3E51-BD62-4CF2-8454-77D2A5CDF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943225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03 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46D56C-250D-4215-A3D8-D9230A0F4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486150"/>
            <a:ext cx="3333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自己打開官方管道</a:t>
            </a:r>
          </a:p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拿不定主意就問爸爸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C59ACD-30E4-48C5-8ADE-8F66868B0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1970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今天的作品：一張釣魚訊息紅旗海報</a:t>
            </a:r>
          </a:p>
        </p:txBody>
      </p:sp>
    </p:spTree>
    <p:extLst>
      <p:ext uri="{BB962C8B-B14F-4D97-AF65-F5344CB8AC3E}">
        <p14:creationId xmlns:p14="http://schemas.microsoft.com/office/powerpoint/2010/main" val="2135673015"/>
      </p:ext>
    </p:extLst>
  </p:cSld>
</p:sld>
</file>

<file path=ppt/slides/slide3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41222"/>
            </a:gs>
            <a:gs pos="62000">
              <a:srgbClr val="071F37"/>
            </a:gs>
            <a:gs pos="100000">
              <a:srgbClr val="04122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CBAA85-7BCE-4397-9C31-1B021B5E1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1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FB59EF-386A-4282-942F-3AF04A3E1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CHEN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6D2E1A-3824-401C-A4E8-B6C9C608B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76225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2A4ED8-8BC9-4FFE-A8C5-F23DAA58D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2425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父子科技學院  ·  PHISHING DETECTIVES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7437CF-9118-435F-99C4-507F6A1CD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3375"/>
            <a:ext cx="1666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L008 · 03/12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C147E9-E943-4D0E-9622-E48021D08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11516A-4913-4D46-963F-390D4A344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釣魚郵件偵探社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EEE8F7-F6EC-44F4-8B52-2A48DA977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543675"/>
            <a:ext cx="14382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 SAYS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EEF589-74D1-44C7-87A1-B5A5DFBC0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釣魚訊息：假裝成你認識的人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6DA111-FC0E-4CD3-8431-6034FB964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用假訊息騙你交出密碼、個人資料或錢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FE4ECE-62BC-4828-B2F4-542932545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95550"/>
            <a:ext cx="619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85BD05-AD46-4B5D-8A2E-3649FFCC9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495550"/>
            <a:ext cx="685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從哪裡來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1DDBB2-E2F9-4C47-B861-88060588C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981325"/>
            <a:ext cx="685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電子郵件、簡訊、社群和通訊軟體的訊息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993BFF-EB17-4426-8E50-7A4FDB6B7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619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AD1378-FE3A-4E5A-B7A8-5E05607D1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524250"/>
            <a:ext cx="685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想要什麼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89B2F8-CD8B-490E-A0D8-CC271D64F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4010025"/>
            <a:ext cx="685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密碼、驗證碼、帳號資料，或讓你裝進壞程式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C1F8D6-8833-48B6-BBC2-45CDEBF40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619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CCD6D1-37AB-4D6A-9BF0-FC9102512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4552950"/>
            <a:ext cx="685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為什麼會上當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244EB0-F044-4212-8D30-F2FB68ED9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5038725"/>
            <a:ext cx="685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看起來很像真的，又催你趕快決定</a:t>
            </a:r>
          </a:p>
        </p:txBody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23f7c286e54276"/>
          <a:stretch xmlns:a="http://schemas.openxmlformats.org/drawingml/2006/main"/>
        </p:blipFill>
        <p:spPr>
          <a:xfrm xmlns:a="http://schemas.openxmlformats.org/drawingml/2006/main">
            <a:off x="9067923" y="3028950"/>
            <a:ext cx="2619129" cy="147404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5818341"/>
      </p:ext>
    </p:extLst>
  </p:cSld>
</p:sld>
</file>

<file path=ppt/slides/slide4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41222"/>
            </a:gs>
            <a:gs pos="62000">
              <a:srgbClr val="071F37"/>
            </a:gs>
            <a:gs pos="100000">
              <a:srgbClr val="04122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673393-EFB5-4A98-86E7-A558CAF66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1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402777-7C0B-4C2B-82B1-9221AED78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CHEN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6EA910-FEAB-4772-8D2F-23EA5F60E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76225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AEF2EE-5F1D-4CB7-A63C-1A6A38CC7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2425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父子科技學院  ·  PHISHING DETECTIVES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02EB7E-31AD-40B2-B8F6-209B239E5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3375"/>
            <a:ext cx="1666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L008 · 04/12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786C83-64FD-4F3B-9866-611EEBB55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1456A0-A883-44BB-A110-018AC976B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釣魚郵件偵探社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8C1631-6816-4C34-8D2C-37618339F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543675"/>
            <a:ext cx="14382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 SAYS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02B4DF-6175-43AC-A2CA-E797BE302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五面紅旗：看到就要小心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573212-295F-4664-9509-BEE0CBFD3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紅旗越多，越可能是釣魚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89E95D-FD05-4BA5-8315-2E10EF666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505075"/>
            <a:ext cx="10858500" cy="2419350"/>
          </a:xfrm>
          <a:prstGeom xmlns:a="http://schemas.openxmlformats.org/drawingml/2006/main" prst="roundRect">
            <a:avLst>
              <a:gd name="adj" fmla="val 6299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1982C4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0F7010-BCD9-4AFE-B3EE-F2CF21B49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67000"/>
            <a:ext cx="447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釣魚訊息的紅旗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C4C19A-623F-4463-8828-28E46AB26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86125"/>
            <a:ext cx="2333625" cy="1123950"/>
          </a:xfrm>
          <a:prstGeom xmlns:a="http://schemas.openxmlformats.org/drawingml/2006/main" prst="roundRect">
            <a:avLst>
              <a:gd name="adj" fmla="val 11017"/>
            </a:avLst>
          </a:prstGeom>
          <a:solidFill xmlns:a="http://schemas.openxmlformats.org/drawingml/2006/main">
            <a:srgbClr val="092944"/>
          </a:solidFill>
          <a:ln xmlns:a="http://schemas.openxmlformats.org/drawingml/2006/main" w="14288">
            <a:solidFill>
              <a:srgbClr val="FFC12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4E39EA-96C9-44A7-9404-C155E50C0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19475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語氣很急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0D4E72-DB1F-45C4-9A15-C387F5EE3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052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催你、嚇你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DEEE00-B13F-4CCA-8135-429F95ABD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286125"/>
            <a:ext cx="2333625" cy="1123950"/>
          </a:xfrm>
          <a:prstGeom xmlns:a="http://schemas.openxmlformats.org/drawingml/2006/main" prst="roundRect">
            <a:avLst>
              <a:gd name="adj" fmla="val 11017"/>
            </a:avLst>
          </a:prstGeom>
          <a:solidFill xmlns:a="http://schemas.openxmlformats.org/drawingml/2006/main">
            <a:srgbClr val="092944"/>
          </a:solidFill>
          <a:ln xmlns:a="http://schemas.openxmlformats.org/drawingml/2006/main" w="14288">
            <a:solidFill>
              <a:srgbClr val="1982C4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FB9014-432E-46FB-8E54-67A4D120C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419475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假寄件者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319C4A-A0DE-48C4-96B5-29AE01071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9052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名字地址對不上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EB9631-D6B6-4A83-AA68-4FB40C482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286125"/>
            <a:ext cx="2333625" cy="1123950"/>
          </a:xfrm>
          <a:prstGeom xmlns:a="http://schemas.openxmlformats.org/drawingml/2006/main" prst="roundRect">
            <a:avLst>
              <a:gd name="adj" fmla="val 11017"/>
            </a:avLst>
          </a:prstGeom>
          <a:solidFill xmlns:a="http://schemas.openxmlformats.org/drawingml/2006/main">
            <a:srgbClr val="092944"/>
          </a:solidFill>
          <a:ln xmlns:a="http://schemas.openxmlformats.org/drawingml/2006/main" w="14288">
            <a:solidFill>
              <a:srgbClr val="1982C4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C93E69-D9F1-4C4A-9504-B6F4F5C92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19475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怪網址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F8B02D-2AEA-4B5F-B77F-9133A2E8A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9052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不是官方網站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7B213E-4BBA-443B-B52A-2F0FE625B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286125"/>
            <a:ext cx="2333625" cy="1123950"/>
          </a:xfrm>
          <a:prstGeom xmlns:a="http://schemas.openxmlformats.org/drawingml/2006/main" prst="roundRect">
            <a:avLst>
              <a:gd name="adj" fmla="val 11017"/>
            </a:avLst>
          </a:prstGeom>
          <a:solidFill xmlns:a="http://schemas.openxmlformats.org/drawingml/2006/main">
            <a:srgbClr val="092944"/>
          </a:solidFill>
          <a:ln xmlns:a="http://schemas.openxmlformats.org/drawingml/2006/main" w="14288">
            <a:solidFill>
              <a:srgbClr val="1982C4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716258-A662-4C89-AD41-DBF59C820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419475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可疑附件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6C6751-BE75-4F38-9317-129A2428D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9052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沒預期的檔案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A31B5B-E3AB-4F86-B881-463F10D31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1970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第五面紅旗：向你要錢、要密碼、要驗證碼</a:t>
            </a:r>
          </a:p>
        </p:txBody>
      </p:sp>
    </p:spTree>
    <p:extLst>
      <p:ext uri="{BB962C8B-B14F-4D97-AF65-F5344CB8AC3E}">
        <p14:creationId xmlns:p14="http://schemas.microsoft.com/office/powerpoint/2010/main" val="1678544267"/>
      </p:ext>
    </p:extLst>
  </p:cSld>
</p:sld>
</file>

<file path=ppt/slides/slide5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41222"/>
            </a:gs>
            <a:gs pos="62000">
              <a:srgbClr val="071F37"/>
            </a:gs>
            <a:gs pos="100000">
              <a:srgbClr val="04122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D9F304-5B6E-4ECF-9C90-00D9788AE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1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FF9A5A-BAF0-48F5-8990-5B4A8823F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CHEN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49EFC3-C31E-45EE-B1B3-984F4AA3E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76225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ED9757-3F1B-4EFC-992A-837BB3EF7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2425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父子科技學院  ·  PHISHING DETECTIVES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B66B9D-8E05-45B5-82DA-8E9FD63A9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3375"/>
            <a:ext cx="1666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L008 · 05/12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3715D2-4CE7-40FA-817E-4D2AA1B23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F1C166-E003-442E-AA6F-006BA2D28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釣魚郵件偵探社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DBC8BB-ED2E-4B38-841F-74B41F4D1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543675"/>
            <a:ext cx="14382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 SAYS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ED210A-0D1B-4434-8D88-EE5D6C7AE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假寄件者：名字可以造假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3FE0B1-EF4E-4A6B-8B95-70AE4FE17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不能只看顯示的名字，要看完整的地址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CC8878-AA73-4717-B152-A4033C43B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95575"/>
            <a:ext cx="4572000" cy="180975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46C8F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FA5FEF-1937-4F06-AE5E-DBFE5CD53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57500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rPr>
              <a:t>顯示的名字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0450EB-4721-488F-8518-507520B2A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00425"/>
            <a:ext cx="4191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彩虹學習網 客服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84B9AA-5B9C-493B-ADB8-F9342A0DC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3295650"/>
            <a:ext cx="457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rPr>
              <a:t>≠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5C7207-8BF9-4412-A538-E8FA9152B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695575"/>
            <a:ext cx="5191125" cy="180975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FFC12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F3D441-7B42-4FB2-830B-2EF474F25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857500"/>
            <a:ext cx="4810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完整的地址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5F7FE2-EF33-45DA-994E-E2CAD94C9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3400425"/>
            <a:ext cx="48101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prize@free-gift.example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FE027F-CF90-4BEF-9893-80F73FCF6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57750"/>
            <a:ext cx="1038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名字和地址對不上，就是紅旗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A7DACC-C28D-410C-8463-2B7822D07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1970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地址看起來沒問題，也要再檢查其他紅旗</a:t>
            </a:r>
          </a:p>
        </p:txBody>
      </p:sp>
    </p:spTree>
    <p:extLst>
      <p:ext uri="{BB962C8B-B14F-4D97-AF65-F5344CB8AC3E}">
        <p14:creationId xmlns:p14="http://schemas.microsoft.com/office/powerpoint/2010/main" val="1748632481"/>
      </p:ext>
    </p:extLst>
  </p:cSld>
</p:sld>
</file>

<file path=ppt/slides/slide6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41222"/>
            </a:gs>
            <a:gs pos="62000">
              <a:srgbClr val="071F37"/>
            </a:gs>
            <a:gs pos="100000">
              <a:srgbClr val="04122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5CC505-827E-41D4-9607-7E613B326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1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318ACC-7141-480D-820C-C3F982869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CHEN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FEB4CE-2EEE-40A7-A9FF-D5BCDCFFA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76225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CA6196-CC6C-4F4E-ABF5-49B768CE7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2425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父子科技學院  ·  PHISHING DETECTIVES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F9441B-FD9D-4183-90B0-6ABBDAFC6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3375"/>
            <a:ext cx="1666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L008 · 06/12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B4F94E-BB68-40AF-9813-92882719E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038368-0361-4B17-B135-10368D2B1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釣魚郵件偵探社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84872B-9405-4FBD-8519-2660383A1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543675"/>
            <a:ext cx="14382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 SAYS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125D58-E48F-431E-B98B-E05B67B70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怪網址：連結要去哪裡？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080AC9-E85A-4F31-B65B-69E4611BE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連結上寫的字，和真正要去的地方可能不一樣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DEC8F4-D741-43B8-8D37-74F21379F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71775"/>
            <a:ext cx="3143250" cy="21336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46C8F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2E7DFA-F49D-4C24-BB72-4E8D6ECC3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3370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rPr>
              <a:t>01 先不要按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9765E2-BB14-4FF4-84F9-F5472B80C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76625"/>
            <a:ext cx="2762250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把指標停在連結上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CB0193-26D1-4FF9-9571-F4304C1C5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2771775"/>
            <a:ext cx="3381375" cy="21336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46C8F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CFFBBC-8F43-4582-B2ED-DDC2D7CC0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2933700"/>
            <a:ext cx="3000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rPr>
              <a:t>02 看真正的網址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7A2E4A-F98B-446F-8042-7B3B6951D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3476625"/>
            <a:ext cx="3000375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是那個官方網站嗎？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06EF27-5373-4150-A8CC-546189BD1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771775"/>
            <a:ext cx="3800475" cy="21336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FFC12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7CF9E8-F094-4279-9DCB-E9D202677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933700"/>
            <a:ext cx="34194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03 不一樣就停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9BF58E-3020-4D61-9A71-E7BB22E80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476625"/>
            <a:ext cx="3419475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自己輸入知道的網址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83D278-8FC4-479D-BED8-9F94B176A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1970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在 Mac 上，指標停在連結上就能看到網址</a:t>
            </a:r>
          </a:p>
        </p:txBody>
      </p:sp>
    </p:spTree>
    <p:extLst>
      <p:ext uri="{BB962C8B-B14F-4D97-AF65-F5344CB8AC3E}">
        <p14:creationId xmlns:p14="http://schemas.microsoft.com/office/powerpoint/2010/main" val="255296773"/>
      </p:ext>
    </p:extLst>
  </p:cSld>
</p:sld>
</file>

<file path=ppt/slides/slide7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41222"/>
            </a:gs>
            <a:gs pos="62000">
              <a:srgbClr val="071F37"/>
            </a:gs>
            <a:gs pos="100000">
              <a:srgbClr val="04122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251821-E1D9-4F03-A1F4-58B805150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1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C21B96-4AF8-4FFE-9598-72396F5DB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CHEN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86763A-8B6A-4AEE-B4D6-D399CDF22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76225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295050-216F-4E2C-951C-27F9F6DF4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2425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父子科技學院  ·  PHISHING DETECTIVES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483EEB-6C1E-4954-8118-BB8AF8B93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3375"/>
            <a:ext cx="1666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L008 · 07/12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65969B-502F-4613-9C38-1EF27BB34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C725B5-4AFF-4554-8AF7-E32732946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釣魚郵件偵探社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384212-33D0-4FFD-9430-01D6311DE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543675"/>
            <a:ext cx="14382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 SAYS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3E2F9A-C11B-4B52-BFEE-8118887BA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語氣、附件和要求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B2D851-0FBC-430A-842A-E4228DF21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催你、嚇你、向你要東西，都是紅旗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DAAECC-07C8-45DE-8974-8DAD05B78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193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很急  →  嚇你  →  要你馬上做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379B45-47FC-4B91-A804-6BED237C1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3381375" cy="1514475"/>
          </a:xfrm>
          <a:prstGeom xmlns:a="http://schemas.openxmlformats.org/drawingml/2006/main" prst="roundRect">
            <a:avLst>
              <a:gd name="adj" fmla="val 8805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46C8F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A0C263-39F0-4496-BB70-27E6867D0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95675"/>
            <a:ext cx="3000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rPr>
              <a:t>語氣很急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920E7B-4075-4D36-B91B-E7CBAEC21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38600"/>
            <a:ext cx="3000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「24 小時內」「立刻」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49639E-237F-4D24-9252-44D72F554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333750"/>
            <a:ext cx="3381375" cy="1514475"/>
          </a:xfrm>
          <a:prstGeom xmlns:a="http://schemas.openxmlformats.org/drawingml/2006/main" prst="roundRect">
            <a:avLst>
              <a:gd name="adj" fmla="val 8805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FFC12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E6DC0F-8650-47A6-8290-C8F07E888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495675"/>
            <a:ext cx="3000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可疑附件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7068CF-B684-4C28-8645-48F0073F3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038600"/>
            <a:ext cx="3000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沒預期就不打開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3BEBEC-F150-47DA-83DF-FCC1AECE0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333750"/>
            <a:ext cx="3381375" cy="1514475"/>
          </a:xfrm>
          <a:prstGeom xmlns:a="http://schemas.openxmlformats.org/drawingml/2006/main" prst="roundRect">
            <a:avLst>
              <a:gd name="adj" fmla="val 8805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46C8F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AD5544-71E6-438E-BC72-577FF0053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495675"/>
            <a:ext cx="3000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rPr>
              <a:t>要錢要密碼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29F0AB-628F-44FA-8E2A-A386F789C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038600"/>
            <a:ext cx="3000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還有驗證碼、禮物卡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DE8EF5-DFCD-4843-AF21-C32A2DF62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1970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真的很急的事，也可以先停下來查證</a:t>
            </a:r>
          </a:p>
        </p:txBody>
      </p:sp>
    </p:spTree>
    <p:extLst>
      <p:ext uri="{BB962C8B-B14F-4D97-AF65-F5344CB8AC3E}">
        <p14:creationId xmlns:p14="http://schemas.microsoft.com/office/powerpoint/2010/main" val="931827616"/>
      </p:ext>
    </p:extLst>
  </p:cSld>
</p:sld>
</file>

<file path=ppt/slides/slide8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41222"/>
            </a:gs>
            <a:gs pos="62000">
              <a:srgbClr val="071F37"/>
            </a:gs>
            <a:gs pos="100000">
              <a:srgbClr val="04122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086372-F30A-4E13-B18F-DA1C8BBE8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1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B76E11-4BDC-43B6-A636-CE205284D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CHEN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E9053B-AE9A-4D1D-9C0B-0C66CEA3E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76225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C7B777-2BEB-4890-A16C-B6681D57E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2425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父子科技學院  ·  PHISHING DETECTIVES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D894C7-02C7-413C-B65C-598C45362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3375"/>
            <a:ext cx="1666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L008 · 08/12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0B2A5D-D21B-4EE7-964F-D3FCC14B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F107DA-CD42-468D-9FA7-69E717438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釣魚郵件偵探社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2EF73F-8C05-4998-8A61-E53FB3E31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543675"/>
            <a:ext cx="14382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 SAYS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6DAD61-383E-4599-B570-C9F7F7E75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安全動作：不點、不開、不回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A584D7-C49F-492A-A10C-E6C485749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想確認真假，用你原本就知道的管道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59AC0F-B4F0-4C2F-8A05-CEBFD31C1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619375"/>
            <a:ext cx="581025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一、不點連結，不開附件，不回覆</a:t>
            </a:r>
          </a:p>
          <a:p xmlns:a="http://schemas.openxmlformats.org/drawingml/2006/main">
            <a:pPr>
              <a:defRPr sz="24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二、自己打開官方 App 或網站查</a:t>
            </a:r>
          </a:p>
          <a:p xmlns:a="http://schemas.openxmlformats.org/drawingml/2006/main">
            <a:pPr>
              <a:defRPr sz="24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三、告訴爸爸，檢舉後再刪除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C5D711-648B-4721-913D-5EB2AF9E2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571750"/>
            <a:ext cx="3810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已經點了怎麼辦？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3D1310-8F0F-4C22-B1CE-A6A3D019F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276600"/>
            <a:ext cx="4171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馬上告訴爸爸，不要怕被罵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012752-C9A3-486F-9001-48423A3E6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943350"/>
            <a:ext cx="42767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輸入過密碼就立刻改</a:t>
            </a:r>
          </a:p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並確認雙重驗證有開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BB7009-842C-4AA9-8CC6-458B48B87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1970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暫停影片：說出三個安全動作</a:t>
            </a:r>
          </a:p>
        </p:txBody>
      </p:sp>
    </p:spTree>
    <p:extLst>
      <p:ext uri="{BB962C8B-B14F-4D97-AF65-F5344CB8AC3E}">
        <p14:creationId xmlns:p14="http://schemas.microsoft.com/office/powerpoint/2010/main" val="1620250031"/>
      </p:ext>
    </p:extLst>
  </p:cSld>
</p:sld>
</file>

<file path=ppt/slides/slide9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41222"/>
            </a:gs>
            <a:gs pos="62000">
              <a:srgbClr val="071F37"/>
            </a:gs>
            <a:gs pos="100000">
              <a:srgbClr val="04122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4B4CB7-C0AF-4496-8CB0-D1603C7FD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1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62D067-1474-44F4-8964-C1EADECA3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CHEN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B3C13C-A50A-468A-89EF-2126ED332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76225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CD4894-4F66-4BDA-BC3D-167C59A5E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2425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父子科技學院  ·  PHISHING DETECTIVES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F5E446-75CA-46F0-90CC-7CDB62CE7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3375"/>
            <a:ext cx="1666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L008 · 09/12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E8641B-9445-488A-9859-8D4390D14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B4117B-9818-4A06-A8EE-2C68CFA60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釣魚郵件偵探社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7EA854-6195-4340-B051-434E26032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543675"/>
            <a:ext cx="14382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 SAYS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B71742-6C30-47F4-84D4-DE550986F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偵探辦案：真假訊息卡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C30A55-51BB-4C3D-B3CC-A1DA3CBD3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圈出紅旗，再說出安全動作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6EFEA1-1686-442B-92CE-84B5BB014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609850"/>
            <a:ext cx="5105400" cy="2409825"/>
          </a:xfrm>
          <a:prstGeom xmlns:a="http://schemas.openxmlformats.org/drawingml/2006/main" prst="roundRect">
            <a:avLst>
              <a:gd name="adj" fmla="val 5534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46C8F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243D0C-6171-40DC-BD0D-E24D8D186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771775"/>
            <a:ext cx="4724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rPr>
              <a:t>第一步：圈紅旗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02D87F-A3EC-4A17-8CA4-8C4E0E11A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314700"/>
            <a:ext cx="47244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八張訊息卡，有的是釣魚</a:t>
            </a:r>
          </a:p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每張圈出看到的紅旗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C58341-7262-4B9E-9B93-83DC37DB5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609850"/>
            <a:ext cx="5429250" cy="2409825"/>
          </a:xfrm>
          <a:prstGeom xmlns:a="http://schemas.openxmlformats.org/drawingml/2006/main" prst="roundRect">
            <a:avLst>
              <a:gd name="adj" fmla="val 5534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FFC12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ABC0F4-18AE-4011-A539-1EF681B1F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771775"/>
            <a:ext cx="504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第二步：說安全動作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2699C2-1693-457E-8A0A-524E5D8BE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314700"/>
            <a:ext cx="50482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說出你會怎麼做</a:t>
            </a:r>
          </a:p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說得出理由才算破案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C9B7AD-6296-4A99-B4B6-3C4EC7FDD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1970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沒有紅旗的卡，也要說出你怎麼確認它是真的</a:t>
            </a:r>
          </a:p>
        </p:txBody>
      </p:sp>
    </p:spTree>
    <p:extLst>
      <p:ext uri="{BB962C8B-B14F-4D97-AF65-F5344CB8AC3E}">
        <p14:creationId xmlns:p14="http://schemas.microsoft.com/office/powerpoint/2010/main" val="418818207"/>
      </p:ext>
    </p:extLst>
  </p:cSld>
</p:sld>
</file>

<file path=ppt/slides/slide10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41222"/>
            </a:gs>
            <a:gs pos="62000">
              <a:srgbClr val="071F37"/>
            </a:gs>
            <a:gs pos="100000">
              <a:srgbClr val="04122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C5B7C4-5F33-4569-88B4-3E002E987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1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787322-E497-4E0D-B109-208A5C936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CHEN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E142D4-9C36-4B23-A35A-1EB02F439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76225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CE7724-8444-4710-A45F-7D9E7D658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2425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父子科技學院  ·  PHISHING DETECTIVES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474DA5-F4EE-46D9-BA36-3F71AE41F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3375"/>
            <a:ext cx="1666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L008 · 10/12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C9DCE5-E499-49C7-82F7-7E7BC91CF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8027B8-47E0-4742-8670-DD0513919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釣魚郵件偵探社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47E136-9364-4408-AF3A-AE6865E4D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543675"/>
            <a:ext cx="14382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 SAYS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739A64-F7AD-466E-A819-A9CBC7CAF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換你設計：釣魚訊息紅旗海報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581646-7949-4EC5-BED3-760BEED78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讓全家人一眼就記得紅旗和安全動作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6C069D-F973-4AB0-915A-85C6B3E0B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66975"/>
            <a:ext cx="619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023E3A-DF33-4AA6-BF77-C71190767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466975"/>
            <a:ext cx="7191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畫出五面紅旗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EF6DB7-1362-43E6-8363-4B8FC29E1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952750"/>
            <a:ext cx="7191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語氣、寄件者、網址、附件、要錢要密碼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BCE7AC-A886-4081-BD27-AAC24AF1D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33775"/>
            <a:ext cx="619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A3F3F9-D4A9-48E1-AAD6-EB3261069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533775"/>
            <a:ext cx="7191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寫上三個安全動作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5D7F50-72A2-4CE9-95C9-D58E9B093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4019550"/>
            <a:ext cx="7191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不點、不開、不回；不確定就告訴爸爸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F942DB-8D66-44E8-A58D-C09C93841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00575"/>
            <a:ext cx="619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6B270F-2B19-4B8D-AD20-CD3E7EE16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4600575"/>
            <a:ext cx="7191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加一條自己的偵探規則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9B412F-1F6A-4310-BA7C-B1FF21FCA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5086350"/>
            <a:ext cx="7191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例如：看到「立刻」，先深呼吸十秒</a:t>
            </a:r>
          </a:p>
        </p:txBody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5aaaee3a564bfb"/>
          <a:stretch xmlns:a="http://schemas.openxmlformats.org/drawingml/2006/main"/>
        </p:blipFill>
        <p:spPr>
          <a:xfrm xmlns:a="http://schemas.openxmlformats.org/drawingml/2006/main">
            <a:off x="9153641" y="3114675"/>
            <a:ext cx="2476267" cy="139364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9795977"/>
      </p:ext>
    </p:extLst>
  </p:cSld>
</p:sld>
</file>

<file path=ppt/slides/slide1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41222"/>
            </a:gs>
            <a:gs pos="62000">
              <a:srgbClr val="071F37"/>
            </a:gs>
            <a:gs pos="100000">
              <a:srgbClr val="04122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AF51C18-A484-46C6-845A-F5C3F0CD6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1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83D445-12DF-4E92-92B7-7B6A17E62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CHEN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374B48-6E4B-43C8-8DCE-E74051755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76225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DB3135-DFAD-4B49-A573-BB63F3D26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2425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父子科技學院  ·  PHISHING DETECTIVES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C8C7EC-753E-4A1E-B5B5-7BE508D49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3375"/>
            <a:ext cx="1666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L008 · 11/12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C08CA8-39CD-4689-A571-221AF81C7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0F0A9C-C984-41CB-87B3-74E557484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釣魚郵件偵探社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80C8D9-F12D-46AA-A86D-BBFD6F550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543675"/>
            <a:ext cx="14382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 SAYS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D26D23-7DBF-4478-9196-8CDCF0E62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兩小時的釣魚偵探課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C2477D-626C-4649-A0A0-D0EA8189C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影片先引路，接下來用訊息卡練習辦案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DBBE76-5A41-48EC-8D4C-7E7836EEE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19450"/>
            <a:ext cx="5143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EB5EF3-7919-4E05-A5BC-D4C324A09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66975"/>
            <a:ext cx="171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00–25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CFF5A3-9AB1-4DDA-8142-74AC936EF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466975"/>
            <a:ext cx="3143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開場十分＋概念十五分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878743-5D95-4521-AB3A-638A6356B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81475"/>
            <a:ext cx="5143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B1D721-B5E9-460F-BA0A-A842A5EE0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429000"/>
            <a:ext cx="171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25–65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E4F9ED-549E-418F-9972-620B5CF76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429000"/>
            <a:ext cx="3143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真假訊息卡偵探賽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40B275-99F2-4801-8203-B21A73D42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43500"/>
            <a:ext cx="5143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F028C8-58CC-41E9-80EA-5943D8325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91025"/>
            <a:ext cx="171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65–75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92CEBD-B221-4602-8E16-30EEE11A8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391025"/>
            <a:ext cx="3143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休息十分鐘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B106B7-2C47-40DB-8316-9A5EB7994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219450"/>
            <a:ext cx="5143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A74511-469A-47D4-84E6-D5871DC6F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466975"/>
            <a:ext cx="171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75–105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88C673-CC9A-459C-8AB4-899D319B8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466975"/>
            <a:ext cx="3143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紅旗海報＋自選規則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6D7487-5325-405B-9463-F193CF66E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181475"/>
            <a:ext cx="5143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189E7A-EAD4-4474-97F6-7CA363230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429000"/>
            <a:ext cx="171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105–115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D6E1E7A-714D-4FD0-AEDE-F663603F1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429000"/>
            <a:ext cx="3143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孩子教爸爸辨識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691C3B7-895F-4D8B-A841-66108D6E0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5143500"/>
            <a:ext cx="5143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5D5A8D4-4138-4215-B4CD-840358402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391025"/>
            <a:ext cx="171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115–120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0E6CA23-7C02-45F8-9BF7-B8EC55A9B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4391025"/>
            <a:ext cx="3143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錄音總結＋作品存檔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5CC1EEE-5F17-482D-B05B-00F33EE78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1970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今日生活技能：安全，不確定的訊息先停下來問</a:t>
            </a:r>
          </a:p>
        </p:txBody>
      </p:sp>
    </p:spTree>
    <p:extLst>
      <p:ext uri="{BB962C8B-B14F-4D97-AF65-F5344CB8AC3E}">
        <p14:creationId xmlns:p14="http://schemas.microsoft.com/office/powerpoint/2010/main" val="761124881"/>
      </p:ext>
    </p:extLst>
  </p:cSld>
</p:sld>
</file>

<file path=ppt/slides/slide12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41222"/>
            </a:gs>
            <a:gs pos="62000">
              <a:srgbClr val="071F37"/>
            </a:gs>
            <a:gs pos="100000">
              <a:srgbClr val="04122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717C6A-C66C-46F0-9F5F-1077E8B0B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1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8FAEBA-AA94-416E-BA8A-501C0A680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CHEN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1BE332-40E7-4029-9F70-3C83E5371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76225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FB8E47-F5D4-4F9F-A124-32ACFBEB7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2425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父子科技學院  ·  PHISHING DETECTIVES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1305CB-A0EB-4F56-B2C6-91B32CC8D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3375"/>
            <a:ext cx="1666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L008 · 12/12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EA4645-DD68-464F-834F-DA00DBDEE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4A87DB-074B-48A0-8ED7-FA81BDBB0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釣魚郵件偵探社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1BFB36-9853-48AF-9BA9-9132950FE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543675"/>
            <a:ext cx="14382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 SAYS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630854-BCC8-499F-9FF6-9E015FCA4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最後一關：教爸爸抓釣魚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B77FC5-1932-447B-B973-D104DE463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暫停影片：不看稿示範一次，再指出一個限制或安全注意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CC3625-631C-4C75-A075-486BA7CF9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38400"/>
            <a:ext cx="619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69B1CB-D308-47BF-8E1C-FD04568C7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438400"/>
            <a:ext cx="752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完成釣魚訊息紅旗海報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9211DD-350E-486C-BD5E-5A2FD5FBD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924175"/>
            <a:ext cx="7524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五面紅旗和三個安全動作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45B44A-7151-480C-8FF8-1D3DE68A7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619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26E6D0-719A-48B6-A673-3B1205CB5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438525"/>
            <a:ext cx="752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當場辦一個案子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4B9D58-DE7E-4C3F-83B8-65AFA4B99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924300"/>
            <a:ext cx="7524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拿一張新的訊息卡，圈紅旗、說動作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F01D8A-ADA3-4C68-8B67-C62753E28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619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BBB444-7494-4930-8312-1F9BCF148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4438650"/>
            <a:ext cx="752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指出一個限制或安全注意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715264-D608-4CE4-8E34-5F40A619F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4924425"/>
            <a:ext cx="7524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例如：沒有錯字，也可能是釣魚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245ce9480844b8"/>
          <a:stretch xmlns:a="http://schemas.openxmlformats.org/drawingml/2006/main"/>
        </p:blipFill>
        <p:spPr>
          <a:xfrm xmlns:a="http://schemas.openxmlformats.org/drawingml/2006/main">
            <a:off x="9010780" y="2867025"/>
            <a:ext cx="2761991" cy="1554446"/>
          </a:xfrm>
          <a:prstGeom xmlns:a="http://schemas.openxmlformats.org/drawingml/2006/main" prst="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127016-B0D0-4E31-A739-B3D936D2E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19700"/>
            <a:ext cx="53816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保持好奇，我們下次見！</a:t>
            </a:r>
          </a:p>
        </p:txBody>
      </p:sp>
    </p:spTree>
    <p:extLst>
      <p:ext uri="{BB962C8B-B14F-4D97-AF65-F5344CB8AC3E}">
        <p14:creationId xmlns:p14="http://schemas.microsoft.com/office/powerpoint/2010/main" val="7708598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2026-09-27T07:18:22.0520000Z</dcterms:created>
  <dcterms:modified xsi:type="dcterms:W3CDTF">2026-09-27T07:18:22.0530000Z</dcterms:modified>
</coreProperties>
</file>