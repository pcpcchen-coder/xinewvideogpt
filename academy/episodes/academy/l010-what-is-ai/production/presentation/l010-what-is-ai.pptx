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歡迎回到父子科技學院，我是陳犀牛，今天是第十堂，主題是 AI：它是什麼、不是什麼，這是依課表製作的課前教學版，並非實際上課錄音。</ns0:t>
            </ns0:r>
          </ns0:p>
          <ns1:p xmlns:ns1="http://schemas.openxmlformats.org/drawingml/2006/main">
            <ns1:r>
              <ns1:t>很多東西都說自己有 AI，可是它們做事的方法，其實很不一樣。</ns1:t>
            </ns1:r>
          </ns1:p>
          <ns2:p xmlns:ns2="http://schemas.openxmlformats.org/drawingml/2006/main">
            <ns2:r>
              <ns2:t>今天你要當分類員，把家裡的十個功能分一分，最後做出一面 AI 功能分類牆。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curriculum/catalog.json：L010；來源 V2 Excel 逐堂課程第 10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分類的時候，只要問三個問題。第一個問題：它是不是只照著人寫好的固定步驟做事？</ns0:t>
            </ns0:r>
          </ns0:p>
          <ns1:p xmlns:ns1="http://schemas.openxmlformats.org/drawingml/2006/main">
            <ns1:r>
              <ns1:t>第二個問題：它是不是看過很多例子，自己找出規律？</ns1:t>
            </ns1:r>
          </ns1:p>
          <ns2:p xmlns:ns2="http://schemas.openxmlformats.org/drawingml/2006/main">
            <ns2:r>
              <ns2:t>第三個問題：它會不會做出新的文字、圖片或聲音？如果三個都不是，它可能根本沒有用到 AI。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curriculum/catalog.json：L010；來源 V2 Excel 逐堂課程第 10 堂</ns4:t>
            </ns4:r>
          </ns4:p>
          <ns5:p xmlns:ns5="http://schemas.openxmlformats.org/drawingml/2006/main">
            <ns5:r>
              <ns5:t>https://www.unicef.org/innocenti/media/11991/file/UNICEF-Innocenti-Guidance-on-AI-and-Children-3-2025.pdf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很多人覺得 AI 像魔法。其實 AI 是人工智慧的簡稱，它是一種電腦系統，會根據收到的資料，推算出預測、建議或是內容。</ns0:t>
            </ns0:r>
          </ns0:p>
          <ns1:p xmlns:ns1="http://schemas.openxmlformats.org/drawingml/2006/main">
            <ns1:r>
              <ns1:t>它是人用程式和大量的資料做出來的，背後是電腦在計算，沒有魔法。</ns1:t>
            </ns1:r>
          </ns1:p>
          <ns2:p xmlns:ns2="http://schemas.openxmlformats.org/drawingml/2006/main">
            <ns2:r>
              <ns2:t>連專家對 AI 的定義都不完全一樣，所以今天不背定義，我們來看每個功能是怎麼做事的。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https://comite-etica.upc.edu/ca/actualitat/media/8-sti-explanatory-memorandum-on-the-updated-oecd-definition-of-an-ai-system_final_v3.pdf/@@download/file/8%20-%20STI%20-%20Explanatory%20memorandum%20on%20the%20updated%20OECD%20definition%20of%20an%20AI%20system_FINAL_V3.pdf</ns4:t>
            </ns4:r>
          </ns4:p>
          <ns5:p xmlns:ns5="http://schemas.openxmlformats.org/drawingml/2006/main">
            <ns5:r>
              <ns5:t>https://www.president.gov.tw/File/Doc/80165b6d-cb49-4b49-952f-56e1e6abe51b</ns5:t>
            </ns5:r>
          </ns5:p>
          <ns6:p xmlns:ns6="http://schemas.openxmlformats.org/drawingml/2006/main">
            <ns6:r>
              <ns6:t>https://oecd.ai/en/wonk/ai-system-definition-update</ns6:t>
            </ns6:r>
          </ns6:p>
          <ns7:p xmlns:ns7="http://schemas.openxmlformats.org/drawingml/2006/main">
            <ns7:r>
              <ns7:t>https://www.unicef.org/innocenti/media/11991/file/UNICEF-Innocenti-Guidance-on-AI-and-Children-3-2025.pdf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今天的分類牆有四個籃子。第一個是固定規則，電腦照著人寫好的步驟做事，同樣的輸入，每次結果都一樣，例如計算機。</ns0:t>
            </ns0:r>
          </ns0:p>
          <ns1:p xmlns:ns1="http://schemas.openxmlformats.org/drawingml/2006/main">
            <ns1:r>
              <ns1:t>第二個是機器學習，電腦從很多例子裡找出規律；第三個是生成式 AI，它會做出新的內容。</ns1:t>
            </ns1:r>
          </ns1:p>
          <ns2:p xmlns:ns2="http://schemas.openxmlformats.org/drawingml/2006/main">
            <ns2:r>
              <ns2:t>第四個籃子留給不是 AI 的東西，裡面沒有程式在幫忙判斷，例如紙本字典；至於固定規則算不算 AI，專家的分法並不一樣。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https://www.thenational.academy/pupils/lessons/what-is-artificial-intelligence/video</ns4:t>
            </ns4:r>
          </ns4:p>
          <ns5:p xmlns:ns5="http://schemas.openxmlformats.org/drawingml/2006/main">
            <ns5:r>
              <ns5:t>https://www.unicef.org/innocenti/media/11991/file/UNICEF-Innocenti-Guidance-on-AI-and-Children-3-2025.pdf</ns5:t>
            </ns5:r>
          </ns5:p>
          <ns6:p xmlns:ns6="http://schemas.openxmlformats.org/drawingml/2006/main">
            <ns6:r>
              <ns6:t>https://comite-etica.upc.edu/ca/actualitat/media/8-sti-explanatory-memorandum-on-the-updated-oecd-definition-of-an-ai-system_final_v3.pdf/@@download/file/8%20-%20STI%20-%20Explanatory%20memorandum%20on%20the%20updated%20OECD%20definition%20of%20an%20AI%20system_FINAL_V3.pdf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固定規則和機器學習差在哪裡？固定規則是人把每一步都寫好，像是這一條：如果紅燈，就停下來。</ns0:t>
            </ns0:r>
          </ns0:p>
          <ns1:p xmlns:ns1="http://schemas.openxmlformats.org/drawingml/2006/main">
            <ns1:r>
              <ns1:t>機器學習不一樣，沒有人把每一步都寫出來，而是給電腦看很多例子，讓它自己找出規律。</ns1:t>
            </ns1:r>
          </ns1:p>
          <ns2:p xmlns:ns2="http://schemas.openxmlformats.org/drawingml/2006/main">
            <ns2:r>
              <ns2:t>例如過濾垃圾郵件，電腦看過大量的郵件之後，學會分辨哪些像垃圾信；例子不夠，或是有偏差，它就會判斷錯。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https://comite-etica.upc.edu/ca/actualitat/media/8-sti-explanatory-memorandum-on-the-updated-oecd-definition-of-an-ai-system_final_v3.pdf/@@download/file/8%20-%20STI%20-%20Explanatory%20memorandum%20on%20the%20updated%20OECD%20definition%20of%20an%20AI%20system_FINAL_V3.pdf</ns4:t>
            </ns4:r>
          </ns4:p>
          <ns5:p xmlns:ns5="http://schemas.openxmlformats.org/drawingml/2006/main">
            <ns5:r>
              <ns5:t>https://lesson-plans.code.org/csd7-2026/20260324130350/teacher-lesson-plans/Lesson-1-Introduction-to-Machine-Learning.pdf</ns5:t>
            </ns5:r>
          </ns5:p>
          <ns6:p xmlns:ns6="http://schemas.openxmlformats.org/drawingml/2006/main">
            <ns6:r>
              <ns6:t>https://workspace.google.com/blog/product-announcements/keeping-your-company-data-safe-new-security-updates-gmail</ns6:t>
            </ns6:r>
          </ns6:p>
          <ns7:p xmlns:ns7="http://schemas.openxmlformats.org/drawingml/2006/main">
            <ns7:r>
              <ns7:t>https://jr.hs.ntnu.edu.tw/wp-content/uploads/2026/02/中小學使用「生成式人工智慧」注意事項2.1.pdf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生活裡很多功能都用到機器學習。用臉解鎖手機的時候，手機就是用機器學習來比對你的臉。</ns0:t>
            </ns0:r>
          </ns0:p>
          <ns1:p xmlns:ns1="http://schemas.openxmlformats.org/drawingml/2006/main">
            <ns1:r>
              <ns1:t>手機把照片依照人物、寵物和場景整理好，也是靠機器學習。</ns1:t>
            </ns1:r>
          </ns1:p>
          <ns2:p xmlns:ns2="http://schemas.openxmlformats.org/drawingml/2006/main">
            <ns2:r>
              <ns2:t>影片網站推薦下一部給你看，同樣是從大量的觀看紀錄裡找規律；不過這些功能都有可能認錯，或是推薦錯。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https://support.apple.com/en-us/102381</ns4:t>
            </ns4:r>
          </ns4:p>
          <ns5:p xmlns:ns5="http://schemas.openxmlformats.org/drawingml/2006/main">
            <ns5:r>
              <ns5:t>https://apple.com/legal/privacy/data/en/photos/</ns5:t>
            </ns5:r>
          </ns5:p>
          <ns6:p xmlns:ns6="http://schemas.openxmlformats.org/drawingml/2006/main">
            <ns6:r>
              <ns6:t>https://www.unicef.org/innocenti/media/11991/file/UNICEF-Innocenti-Guidance-on-AI-and-Children-3-2025.pdf</ns6:t>
            </ns6:r>
          </ns6:p>
          <ns7:p xmlns:ns7="http://schemas.openxmlformats.org/drawingml/2006/main">
            <ns7:r>
              <ns7:t>https://www.thenational.academy/pupils/lessons/what-is-artificial-intelligence/video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生成式 AI 也是機器學習的一種，不過它不只是分類，還會做出新的內容，像是文字、圖片和聲音。</ns0:t>
            </ns0:r>
          </ns0:p>
          <ns1:p xmlns:ns1="http://schemas.openxmlformats.org/drawingml/2006/main">
            <ns1:r>
              <ns1:t>它的做法是先讀過非常大量的資料，找出裡面的規律，再一個字接一個字，預測接下來最可能出現什麼。</ns1:t>
            </ns1:r>
          </ns1:p>
          <ns2:p xmlns:ns2="http://schemas.openxmlformats.org/drawingml/2006/main">
            <ns2:r>
              <ns2:t>所以它寫出來的句子很通順，可是通順不代表正確。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https://www.unicef.org/innocenti/media/11991/file/UNICEF-Innocenti-Guidance-on-AI-and-Children-3-2025.pdf</ns4:t>
            </ns4:r>
          </ns4:p>
          <ns5:p xmlns:ns5="http://schemas.openxmlformats.org/drawingml/2006/main">
            <ns5:r>
              <ns5:t>https://www.microsoft.com/en-us/ai/ai-101/how-does-generative-ai-work</ns5:t>
            </ns5:r>
          </ns5:p>
          <ns6:p xmlns:ns6="http://schemas.openxmlformats.org/drawingml/2006/main">
            <ns6:r>
              <ns6:t>https://mitsloanedtech.mit.edu/ai/basics/addressing-ai-hallucinations-and-bias/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再來看 AI 不是什麼。第一，它不是魔法，它是程式、資料和電腦計算做出來的。</ns0:t>
            </ns0:r>
          </ns0:p>
          <ns1:p xmlns:ns1="http://schemas.openxmlformats.org/drawingml/2006/main">
            <ns1:r>
              <ns1:t>第二，它不是人。Google 給家長的說明提醒，聊天機器人雖然很會對話，但它不是人，也沒有情緒。</ns1:t>
            </ns1:r>
          </ns1:p>
          <ns2:p xmlns:ns2="http://schemas.openxmlformats.org/drawingml/2006/main">
            <ns2:r>
              <ns2:t>第三，它不是永遠正確。它可能把錯的事情說得很有把握，所以重要的事，一定要再查證。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https://support.google.com/gemini/answer/16109150?hl=en</ns4:t>
            </ns4:r>
          </ns4:p>
          <ns5:p xmlns:ns5="http://schemas.openxmlformats.org/drawingml/2006/main">
            <ns5:r>
              <ns5:t>https://www.unicef.org/innocenti/media/11991/file/UNICEF-Innocenti-Guidance-on-AI-and-Children-3-2025.pdf</ns5:t>
            </ns5:r>
          </ns5:p>
          <ns6:p xmlns:ns6="http://schemas.openxmlformats.org/drawingml/2006/main">
            <ns6:r>
              <ns6:t>https://www.anthropic.com/legal/consumer-terms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現在來玩分類牆。桌上有十張功能卡，第一回合比速度：按下計時，把每一張卡貼到四個籃子的其中一個。</ns0:t>
            </ns0:r>
          </ns0:p>
          <ns1:p xmlns:ns1="http://schemas.openxmlformats.org/drawingml/2006/main">
            <ns1:r>
              <ns1:t>第二回合不比快，每一張都要說出理由：它是照固定步驟、從例子學，還是會做出新的內容？理由說得通才得分。</ns1:t>
            </ns1:r>
          </ns1:p>
          <ns2:p xmlns:ns2="http://schemas.openxmlformats.org/drawingml/2006/main">
            <ns2:r>
              <ns2:t>有些卡不只一個答案，例如語音助理裡面，可能同時用到好幾種技術，只要說得出理由就算對。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curriculum/catalog.json：L010；來源 V2 Excel 逐堂課程第 10 堂</ns4:t>
            </ns4:r>
          </ns4:p>
          <ns5:p xmlns:ns5="http://schemas.openxmlformats.org/drawingml/2006/main">
            <ns5:r>
              <ns5:t>https://machinelearning.apple.com/research/hey-siri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下半場換你擴充分類牆。先在家裡找一個新的功能，自己判斷它該放進哪個籃子，並且寫下理由。</ns0:t>
            </ns0:r>
          </ns0:p>
          <ns1:p xmlns:ns1="http://schemas.openxmlformats.org/drawingml/2006/main">
            <ns1:r>
              <ns1:t>再替它寫一張提醒卡，想一想它可能在哪裡出錯。</ns1:t>
            </ns1:r>
          </ns1:p>
          <ns2:p xmlns:ns2="http://schemas.openxmlformats.org/drawingml/2006/main">
            <ns2:r>
              <ns2:t>最後加一條使用 AI 的家庭約定，例如教育部提醒學生，不可以把自己或別人的姓名、照片和住址，輸入生成式 AI。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curriculum/catalog.json：L010；來源 V2 Excel 逐堂課程第 10 堂</ns4:t>
            </ns4:r>
          </ns4:p>
          <ns5:p xmlns:ns5="http://schemas.openxmlformats.org/drawingml/2006/main">
            <ns5:r>
              <ns5:t>https://jr.hs.ntnu.edu.tw/wp-content/uploads/2026/02/中小學使用「生成式人工智慧」注意事項2.1.pdf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兩個小時這樣安排：開場十分鐘，認識三種做事的方法十五分鐘，接著用四十分鐘玩分類牆，再休息十分鐘。</ns0:t>
            </ns0:r>
          </ns0:p>
          <ns1:p xmlns:ns1="http://schemas.openxmlformats.org/drawingml/2006/main">
            <ns1:r>
              <ns1:t>下半場用三十分鐘擴充分類牆、寫使用 AI 的家庭約定，然後用十分鐘交換角色，由孩子教爸爸怎麼分類。</ns1:t>
            </ns1:r>
          </ns1:p>
          <ns2:p xmlns:ns2="http://schemas.openxmlformats.org/drawingml/2006/main">
            <ns2:r>
              <ns2:t>最後五分鐘錄音總結，替分類牆取名字、拍照存檔，再貼在家裡看得到的地方。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curriculum/catalog.json：L010；來源 V2 Excel 逐堂課程第 10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最後一關，請不看稿，在家裡找一個新的功能，當著爸爸的面分類一次，並且說出你的理由。</ns0:t>
            </ns0:r>
          </ns0:p>
          <ns1:p xmlns:ns1="http://schemas.openxmlformats.org/drawingml/2006/main">
            <ns1:r>
              <ns1:t>再指出一個限制或安全注意事項，例如生成式 AI 的回答可能是錯的，重要的事要再查證。</ns1:t>
            </ns1:r>
          </ns1:p>
          <ns2:p xmlns:ns2="http://schemas.openxmlformats.org/drawingml/2006/main">
            <ns2:r>
              <ns2:t>今天的作品是 AI 功能分類牆，下次我們要學怎麼寫出第一個好提示詞；我是陳犀牛，保持好奇，我們下次見！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curriculum/catalog.json：L010；來源 V2 Excel 逐堂課程第 10 堂</ns4:t>
            </ns4:r>
          </ns4:p>
          <ns5:p xmlns:ns5="http://schemas.openxmlformats.org/drawingml/2006/main">
            <ns5:r>
              <ns5:t>https://www.anthropic.com/legal/consumer-terms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第十堂任務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AI 是什麼、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不是什麼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看它怎麼做事，把家裡的功能分一分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第十堂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分類的三個問題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看它怎麼做事，不是看它叫什麼名字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固定步驟？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是不是只照著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人寫好的步驟做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從例子學？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是不是看過很多例子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自己找出規律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做新內容？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會不會做出新的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文字、圖片或聲音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今天的作品：AI 功能分類牆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AI 沒有魔法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是人工智慧的簡稱，是人做出來的電腦系統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它在做什麼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根據收到的資料，推算出預測、建議或內容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它是怎麼來的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人用程式和大量資料做出來的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定義不只一種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連專家的說法都不完全一樣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分類牆的四個籃子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每個功能，放進最像的一個籃子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四個籃子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固定規則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照人寫好的步驟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機器學習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從例子找規律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生成式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做出新的內容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不是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沒有程式在判斷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固定規則算不算 AI，專家的分法不一樣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固定規則和機器學習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一個靠人寫好的步驟，一個靠很多例子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固定規則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人把每一步寫好：如果紅燈，就停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機器學習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給電腦看很多例子，讓它自己找規律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同樣的輸入，固定規則每次結果都一樣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例子不夠或有偏差，機器學習就會判斷錯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機器學習：生活裡的例子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從大量的例子裡找規律，再判斷新的東西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臉部解鎖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比對你的臉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照片整理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認出人物、寵物、場景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影片推薦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從觀看紀錄找規律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這些功能都可能認錯，或是推薦錯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生成式 AI：會做出新內容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它也是機器學習，但不只是分類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讀大量資料  →  找出規律  →  預測下一個字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寫文字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故事、摘要、回答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畫圖片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照文字描述畫出來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接著說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像在和你聊天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句子通順，不代表內容正確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AI 不是什麼？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知道它的限制，才用得安全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一、不是魔法：是程式、資料和計算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二、不是人：很會對話，但沒有情緒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三、不是永遠正確：會說錯還很有把握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所以要記得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重要的事，一定要再查證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問爸爸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或查可靠的來源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 AI 不是的三件事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分類牆競速：十張功能卡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先比快，再比誰的理由說得通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第一回合：計時分類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十張卡貼到四個籃子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記下花了幾秒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第二回合：說出理由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每張卡說它怎麼做事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理由說得通才得分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有些卡不只一個答案，說得出理由就算對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換你設計：擴充分類牆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加一個新功能，再加一條家庭 AI 約定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找一個家裡的新功能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自己判斷它該放哪個籃子，寫下理由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替它寫一張提醒卡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它可能在哪裡出錯？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加一條家庭 AI 約定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例如：不輸入姓名、照片、住址等個資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 AI 分類課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影片先引路，接下來用功能卡練習分類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功能分類牆競速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擴充分類牆＋家庭約定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孩子教爸爸分類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今日生活技能：數位公民，AI 的回答要自己再查證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AI SORTING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L010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是什麼、不是什麼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最後一關：教爸爸分類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 AI 功能分類牆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十張卡都有籃子和理由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當場分類一個新功能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說出它是怎麼做事的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例如：AI 的回答可能是錯的，要再查證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